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2"/>
  </p:notesMasterIdLst>
  <p:sldIdLst>
    <p:sldId id="270" r:id="rId2"/>
    <p:sldId id="256" r:id="rId3"/>
    <p:sldId id="257" r:id="rId4"/>
    <p:sldId id="287" r:id="rId5"/>
    <p:sldId id="259" r:id="rId6"/>
    <p:sldId id="260" r:id="rId7"/>
    <p:sldId id="261" r:id="rId8"/>
    <p:sldId id="262" r:id="rId9"/>
    <p:sldId id="263" r:id="rId10"/>
    <p:sldId id="264" r:id="rId11"/>
    <p:sldId id="281" r:id="rId12"/>
    <p:sldId id="280" r:id="rId13"/>
    <p:sldId id="282" r:id="rId14"/>
    <p:sldId id="283" r:id="rId15"/>
    <p:sldId id="284" r:id="rId16"/>
    <p:sldId id="285" r:id="rId17"/>
    <p:sldId id="286" r:id="rId18"/>
    <p:sldId id="289" r:id="rId19"/>
    <p:sldId id="290" r:id="rId20"/>
    <p:sldId id="291" r:id="rId21"/>
    <p:sldId id="292" r:id="rId22"/>
    <p:sldId id="293" r:id="rId23"/>
    <p:sldId id="294" r:id="rId24"/>
    <p:sldId id="295" r:id="rId25"/>
    <p:sldId id="296" r:id="rId26"/>
    <p:sldId id="297" r:id="rId27"/>
    <p:sldId id="266" r:id="rId28"/>
    <p:sldId id="288" r:id="rId29"/>
    <p:sldId id="267" r:id="rId30"/>
    <p:sldId id="271"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061CD29-8139-4FD2-A676-F6DDD86247EF}">
          <p14:sldIdLst>
            <p14:sldId id="270"/>
            <p14:sldId id="256"/>
            <p14:sldId id="257"/>
            <p14:sldId id="287"/>
            <p14:sldId id="259"/>
            <p14:sldId id="260"/>
            <p14:sldId id="261"/>
            <p14:sldId id="262"/>
            <p14:sldId id="263"/>
            <p14:sldId id="264"/>
            <p14:sldId id="281"/>
            <p14:sldId id="280"/>
            <p14:sldId id="282"/>
            <p14:sldId id="283"/>
            <p14:sldId id="284"/>
            <p14:sldId id="285"/>
            <p14:sldId id="286"/>
            <p14:sldId id="289"/>
            <p14:sldId id="290"/>
            <p14:sldId id="291"/>
            <p14:sldId id="292"/>
            <p14:sldId id="293"/>
            <p14:sldId id="294"/>
            <p14:sldId id="295"/>
            <p14:sldId id="296"/>
            <p14:sldId id="297"/>
          </p14:sldIdLst>
        </p14:section>
        <p14:section name="Untitled Section" id="{B01C2A0B-A594-4E64-B06C-A2EDB8B97EDD}">
          <p14:sldIdLst>
            <p14:sldId id="266"/>
            <p14:sldId id="288"/>
            <p14:sldId id="267"/>
            <p14:sldId id="271"/>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449" autoAdjust="0"/>
    <p:restoredTop sz="94660"/>
  </p:normalViewPr>
  <p:slideViewPr>
    <p:cSldViewPr snapToGrid="0" snapToObjects="1" showGuides="1">
      <p:cViewPr varScale="1">
        <p:scale>
          <a:sx n="59" d="100"/>
          <a:sy n="59" d="100"/>
        </p:scale>
        <p:origin x="169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INNAKAMBAIAH GARI RAMA CHARAN REDDY" userId="81f7a51926a7deac" providerId="LiveId" clId="{461AC299-EE75-4E9C-95FB-6F5E632B2CB6}"/>
    <pc:docChg chg="undo custSel modSld">
      <pc:chgData name="CHINNAKAMBAIAH GARI RAMA CHARAN REDDY" userId="81f7a51926a7deac" providerId="LiveId" clId="{461AC299-EE75-4E9C-95FB-6F5E632B2CB6}" dt="2026-03-17T06:39:39.730" v="21" actId="14100"/>
      <pc:docMkLst>
        <pc:docMk/>
      </pc:docMkLst>
      <pc:sldChg chg="addSp delSp modSp mod">
        <pc:chgData name="CHINNAKAMBAIAH GARI RAMA CHARAN REDDY" userId="81f7a51926a7deac" providerId="LiveId" clId="{461AC299-EE75-4E9C-95FB-6F5E632B2CB6}" dt="2026-03-17T06:39:39.730" v="21" actId="14100"/>
        <pc:sldMkLst>
          <pc:docMk/>
          <pc:sldMk cId="0" sldId="270"/>
        </pc:sldMkLst>
        <pc:picChg chg="add del mod">
          <ac:chgData name="CHINNAKAMBAIAH GARI RAMA CHARAN REDDY" userId="81f7a51926a7deac" providerId="LiveId" clId="{461AC299-EE75-4E9C-95FB-6F5E632B2CB6}" dt="2026-03-17T06:35:58.169" v="9" actId="478"/>
          <ac:picMkLst>
            <pc:docMk/>
            <pc:sldMk cId="0" sldId="270"/>
            <ac:picMk id="3" creationId="{AE38A096-E58B-5E7F-81A0-8B0A509F7AA2}"/>
          </ac:picMkLst>
        </pc:picChg>
        <pc:picChg chg="del">
          <ac:chgData name="CHINNAKAMBAIAH GARI RAMA CHARAN REDDY" userId="81f7a51926a7deac" providerId="LiveId" clId="{461AC299-EE75-4E9C-95FB-6F5E632B2CB6}" dt="2026-03-17T06:35:47.436" v="4" actId="478"/>
          <ac:picMkLst>
            <pc:docMk/>
            <pc:sldMk cId="0" sldId="270"/>
            <ac:picMk id="4" creationId="{00000000-0000-0000-0000-000000000000}"/>
          </ac:picMkLst>
        </pc:picChg>
        <pc:picChg chg="add del mod">
          <ac:chgData name="CHINNAKAMBAIAH GARI RAMA CHARAN REDDY" userId="81f7a51926a7deac" providerId="LiveId" clId="{461AC299-EE75-4E9C-95FB-6F5E632B2CB6}" dt="2026-03-17T06:39:25.655" v="16" actId="478"/>
          <ac:picMkLst>
            <pc:docMk/>
            <pc:sldMk cId="0" sldId="270"/>
            <ac:picMk id="7" creationId="{BF114876-0A3A-4006-4E39-2EE6FB25C329}"/>
          </ac:picMkLst>
        </pc:picChg>
        <pc:picChg chg="add mod">
          <ac:chgData name="CHINNAKAMBAIAH GARI RAMA CHARAN REDDY" userId="81f7a51926a7deac" providerId="LiveId" clId="{461AC299-EE75-4E9C-95FB-6F5E632B2CB6}" dt="2026-03-17T06:39:39.730" v="21" actId="14100"/>
          <ac:picMkLst>
            <pc:docMk/>
            <pc:sldMk cId="0" sldId="270"/>
            <ac:picMk id="9" creationId="{54440A96-2332-BEDF-3103-6C76070E1945}"/>
          </ac:picMkLst>
        </pc:picChg>
      </pc:sldChg>
      <pc:sldChg chg="modSp mod">
        <pc:chgData name="CHINNAKAMBAIAH GARI RAMA CHARAN REDDY" userId="81f7a51926a7deac" providerId="LiveId" clId="{461AC299-EE75-4E9C-95FB-6F5E632B2CB6}" dt="2026-03-17T05:33:55.525" v="3" actId="688"/>
        <pc:sldMkLst>
          <pc:docMk/>
          <pc:sldMk cId="0" sldId="271"/>
        </pc:sldMkLst>
        <pc:spChg chg="mod">
          <ac:chgData name="CHINNAKAMBAIAH GARI RAMA CHARAN REDDY" userId="81f7a51926a7deac" providerId="LiveId" clId="{461AC299-EE75-4E9C-95FB-6F5E632B2CB6}" dt="2026-03-17T05:33:55.525" v="3" actId="688"/>
          <ac:spMkLst>
            <pc:docMk/>
            <pc:sldMk cId="0" sldId="271"/>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7A0BCE-BDE9-4494-8851-D4B469CB3300}" type="datetimeFigureOut">
              <a:rPr lang="en-IN" smtClean="0"/>
              <a:t>23-04-2026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1DDEFC-CC0A-4D15-A13B-8C2D7FB78EE5}"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82879" y="182879"/>
            <a:ext cx="8778240" cy="6492240"/>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rgbClr val="FFFFFF"/>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C1FF6DA9-008F-8B48-92A6-B652298478BF}" type="slidenum">
              <a:rPr lang="en-US" smtClean="0"/>
              <a:t>‹#›</a:t>
            </a:fld>
            <a:endParaRPr lang="en-US"/>
          </a:p>
        </p:txBody>
      </p:sp>
      <p:cxnSp>
        <p:nvCxnSpPr>
          <p:cNvPr id="8" name="Straight Connector 7"/>
          <p:cNvCxnSpPr/>
          <p:nvPr/>
        </p:nvCxnSpPr>
        <p:spPr>
          <a:xfrm>
            <a:off x="1483995" y="3733800"/>
            <a:ext cx="61722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sz="60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282446" y="4154520"/>
            <a:ext cx="6576822" cy="1363806"/>
          </a:xfrm>
        </p:spPr>
        <p:txBody>
          <a:bodyPr anchor="t">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7" name="Straight Connector 6"/>
          <p:cNvCxnSpPr/>
          <p:nvPr/>
        </p:nvCxnSpPr>
        <p:spPr>
          <a:xfrm>
            <a:off x="1485900" y="4020408"/>
            <a:ext cx="61722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anchor="t">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880" y="182880"/>
            <a:ext cx="8778240" cy="649224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857250" y="609600"/>
            <a:ext cx="740664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57251" y="2057400"/>
            <a:ext cx="7404653"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7247" y="6223829"/>
            <a:ext cx="1746806" cy="365125"/>
          </a:xfrm>
          <a:prstGeom prst="rect">
            <a:avLst/>
          </a:prstGeom>
        </p:spPr>
        <p:txBody>
          <a:bodyPr vert="horz" lIns="91440" tIns="45720" rIns="91440" bIns="45720" rtlCol="0" anchor="ctr"/>
          <a:lstStyle>
            <a:lvl1pPr algn="l">
              <a:defRPr sz="1000">
                <a:solidFill>
                  <a:schemeClr val="accent1"/>
                </a:solidFill>
              </a:defRPr>
            </a:lvl1pPr>
          </a:lstStyle>
          <a:p>
            <a:fld id="{5BCAD085-E8A6-8845-BD4E-CB4CCA059FC4}" type="datetimeFigureOut">
              <a:rPr lang="en-US" smtClean="0"/>
              <a:t>4/23/2026</a:t>
            </a:fld>
            <a:endParaRPr lang="en-US"/>
          </a:p>
        </p:txBody>
      </p:sp>
      <p:sp>
        <p:nvSpPr>
          <p:cNvPr id="5" name="Footer Placeholder 4"/>
          <p:cNvSpPr>
            <a:spLocks noGrp="1"/>
          </p:cNvSpPr>
          <p:nvPr>
            <p:ph type="ftr" sz="quarter" idx="3"/>
          </p:nvPr>
        </p:nvSpPr>
        <p:spPr>
          <a:xfrm>
            <a:off x="2961861" y="6223829"/>
            <a:ext cx="3538331" cy="365125"/>
          </a:xfrm>
          <a:prstGeom prst="rect">
            <a:avLst/>
          </a:prstGeom>
        </p:spPr>
        <p:txBody>
          <a:bodyPr vert="horz" lIns="91440" tIns="45720" rIns="91440" bIns="45720" rtlCol="0" anchor="ctr"/>
          <a:lstStyle>
            <a:lvl1pPr algn="ctr">
              <a:defRPr sz="1000">
                <a:solidFill>
                  <a:schemeClr val="accent1"/>
                </a:solidFill>
              </a:defRPr>
            </a:lvl1pPr>
          </a:lstStyle>
          <a:p>
            <a:endParaRPr lang="en-US"/>
          </a:p>
        </p:txBody>
      </p:sp>
      <p:sp>
        <p:nvSpPr>
          <p:cNvPr id="6" name="Slide Number Placeholder 5"/>
          <p:cNvSpPr>
            <a:spLocks noGrp="1"/>
          </p:cNvSpPr>
          <p:nvPr>
            <p:ph type="sldNum" sz="quarter" idx="4"/>
          </p:nvPr>
        </p:nvSpPr>
        <p:spPr>
          <a:xfrm>
            <a:off x="6997148" y="6223829"/>
            <a:ext cx="1279663" cy="365125"/>
          </a:xfrm>
          <a:prstGeom prst="rect">
            <a:avLst/>
          </a:prstGeom>
        </p:spPr>
        <p:txBody>
          <a:bodyPr vert="horz" lIns="91440" tIns="45720" rIns="91440" bIns="45720" rtlCol="0" anchor="ctr"/>
          <a:lstStyle>
            <a:lvl1pPr algn="r">
              <a:defRPr sz="1000">
                <a:solidFill>
                  <a:schemeClr val="accent1"/>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4000" kern="1200">
          <a:solidFill>
            <a:schemeClr val="accent1"/>
          </a:solidFill>
          <a:latin typeface="+mj-lt"/>
          <a:ea typeface="+mj-ea"/>
          <a:cs typeface="+mj-cs"/>
        </a:defRPr>
      </a:lvl1pPr>
    </p:titleStyle>
    <p:bodyStyle>
      <a:lvl1pPr marL="171450" indent="-137160" algn="l" defTabSz="685800" rtl="0" eaLnBrk="1" latinLnBrk="0" hangingPunct="1">
        <a:lnSpc>
          <a:spcPct val="90000"/>
        </a:lnSpc>
        <a:spcBef>
          <a:spcPts val="1000"/>
        </a:spcBef>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800" kern="1200">
          <a:solidFill>
            <a:schemeClr val="accent1"/>
          </a:solidFill>
          <a:latin typeface="+mn-lt"/>
          <a:ea typeface="+mn-ea"/>
          <a:cs typeface="+mn-cs"/>
        </a:defRPr>
      </a:lvl2pPr>
      <a:lvl3pPr marL="54864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600" kern="1200">
          <a:solidFill>
            <a:schemeClr val="accent1"/>
          </a:solidFill>
          <a:latin typeface="+mn-lt"/>
          <a:ea typeface="+mn-ea"/>
          <a:cs typeface="+mn-cs"/>
        </a:defRPr>
      </a:lvl3pPr>
      <a:lvl4pPr marL="754380"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4pPr>
      <a:lvl5pPr marL="920115" indent="-13716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5pPr>
      <a:lvl6pPr marL="109982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6pPr>
      <a:lvl7pPr marL="129984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7pPr>
      <a:lvl8pPr marL="1499870"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8pPr>
      <a:lvl9pPr marL="1699895" indent="-171450" algn="l" defTabSz="685800" rtl="0" eaLnBrk="1" latinLnBrk="0" hangingPunct="1">
        <a:lnSpc>
          <a:spcPct val="90000"/>
        </a:lnSpc>
        <a:spcBef>
          <a:spcPts val="150"/>
        </a:spcBef>
        <a:spcAft>
          <a:spcPts val="300"/>
        </a:spcAft>
        <a:buClr>
          <a:schemeClr val="accent1"/>
        </a:buClr>
        <a:buSzPct val="80000"/>
        <a:buFont typeface="Corbel" panose="020B0503020204020204"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1188720" y="3994785"/>
            <a:ext cx="457200" cy="0"/>
          </a:xfrm>
          <a:prstGeom prst="rect">
            <a:avLst/>
          </a:prstGeom>
          <a:noFill/>
        </p:spPr>
        <p:txBody>
          <a:bodyPr wrap="square" rtlCol="0" anchor="ctr"/>
          <a:lstStyle>
            <a:lvl1pPr algn="l"/>
          </a:lstStyle>
          <a:p>
            <a:pPr algn="ctr"/>
            <a:endParaRPr lang="en-US" dirty="0"/>
          </a:p>
        </p:txBody>
      </p:sp>
      <p:sp>
        <p:nvSpPr>
          <p:cNvPr id="26" name="TextBox 25"/>
          <p:cNvSpPr txBox="1"/>
          <p:nvPr/>
        </p:nvSpPr>
        <p:spPr>
          <a:xfrm>
            <a:off x="719227" y="2212606"/>
            <a:ext cx="7705546" cy="1107996"/>
          </a:xfrm>
          <a:prstGeom prst="rect">
            <a:avLst/>
          </a:prstGeom>
          <a:noFill/>
        </p:spPr>
        <p:txBody>
          <a:bodyPr wrap="square" rtlCol="0">
            <a:spAutoFit/>
          </a:bodyPr>
          <a:lstStyle/>
          <a:p>
            <a:pPr algn="ctr"/>
            <a:r>
              <a:rPr lang="en-US" b="1" u="sng" dirty="0">
                <a:solidFill>
                  <a:srgbClr val="0070C0"/>
                </a:solidFill>
                <a:latin typeface="Times New Roman" panose="02020603050405020304" pitchFamily="18" charset="0"/>
                <a:cs typeface="Times New Roman" panose="02020603050405020304" pitchFamily="18" charset="0"/>
              </a:rPr>
              <a:t>Title of the Project</a:t>
            </a:r>
          </a:p>
          <a:p>
            <a:pPr algn="ctr"/>
            <a:r>
              <a:rPr lang="en-IN" sz="2400" b="1" kern="100" dirty="0">
                <a:latin typeface="Cambria" panose="02040503050406030204" pitchFamily="18" charset="0"/>
                <a:ea typeface="Calibri" panose="020F0502020204030204" pitchFamily="34" charset="0"/>
                <a:cs typeface="Times New Roman" panose="02020603050405020304" pitchFamily="18" charset="0"/>
              </a:rPr>
              <a:t>“Real Time Fraud Detection System for Online Financial Transactions”</a:t>
            </a:r>
            <a:endParaRPr lang="en-US" b="1" u="sng" dirty="0">
              <a:latin typeface="Times New Roman" panose="02020603050405020304" pitchFamily="18" charset="0"/>
              <a:cs typeface="Times New Roman" panose="02020603050405020304" pitchFamily="18" charset="0"/>
            </a:endParaRPr>
          </a:p>
        </p:txBody>
      </p:sp>
      <p:sp>
        <p:nvSpPr>
          <p:cNvPr id="27" name="TextBox 26"/>
          <p:cNvSpPr txBox="1"/>
          <p:nvPr/>
        </p:nvSpPr>
        <p:spPr>
          <a:xfrm>
            <a:off x="-317634" y="4316004"/>
            <a:ext cx="4706755" cy="1292662"/>
          </a:xfrm>
          <a:prstGeom prst="rect">
            <a:avLst/>
          </a:prstGeom>
          <a:noFill/>
        </p:spPr>
        <p:txBody>
          <a:bodyPr wrap="square" rtlCol="0">
            <a:spAutoFit/>
          </a:bodyPr>
          <a:lstStyle/>
          <a:p>
            <a:pPr algn="ctr"/>
            <a:r>
              <a:rPr lang="en-US" sz="1600" b="1" dirty="0">
                <a:solidFill>
                  <a:srgbClr val="0070C0"/>
                </a:solidFill>
                <a:latin typeface="Times New Roman" panose="02020603050405020304" pitchFamily="18" charset="0"/>
                <a:cs typeface="Times New Roman" panose="02020603050405020304" pitchFamily="18" charset="0"/>
              </a:rPr>
              <a:t>Under the esteemed guidance of</a:t>
            </a:r>
          </a:p>
          <a:p>
            <a:pPr algn="ctr"/>
            <a:r>
              <a:rPr lang="en-US" sz="1600" b="1" dirty="0">
                <a:solidFill>
                  <a:srgbClr val="A53010"/>
                </a:solidFill>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Mrs. M Malli M.Tech ,</a:t>
            </a:r>
          </a:p>
          <a:p>
            <a:pPr algn="ctr"/>
            <a:r>
              <a:rPr lang="en-US" sz="1600" b="1" dirty="0">
                <a:latin typeface="Times New Roman" panose="02020603050405020304" pitchFamily="18" charset="0"/>
                <a:cs typeface="Times New Roman" panose="02020603050405020304" pitchFamily="18" charset="0"/>
              </a:rPr>
              <a:t> Asst. Professor, Department of CSE,</a:t>
            </a:r>
          </a:p>
          <a:p>
            <a:pPr algn="ctr"/>
            <a:r>
              <a:rPr lang="en-US" sz="1600" b="1" dirty="0">
                <a:latin typeface="Times New Roman" panose="02020603050405020304" pitchFamily="18" charset="0"/>
                <a:cs typeface="Times New Roman" panose="02020603050405020304" pitchFamily="18" charset="0"/>
              </a:rPr>
              <a:t>SVPCET, Puttur.</a:t>
            </a:r>
            <a:endParaRPr lang="en-IN" sz="1600" b="1" dirty="0">
              <a:latin typeface="Times New Roman" panose="02020603050405020304" pitchFamily="18" charset="0"/>
              <a:cs typeface="Times New Roman" panose="02020603050405020304" pitchFamily="18" charset="0"/>
            </a:endParaRPr>
          </a:p>
          <a:p>
            <a:pPr algn="ctr"/>
            <a:endParaRPr lang="en-IN" sz="1400" b="1" dirty="0">
              <a:solidFill>
                <a:srgbClr val="A53010"/>
              </a:solidFill>
              <a:latin typeface="Times New Roman" panose="02020603050405020304" pitchFamily="18" charset="0"/>
              <a:cs typeface="Times New Roman" panose="02020603050405020304" pitchFamily="18" charset="0"/>
            </a:endParaRPr>
          </a:p>
        </p:txBody>
      </p:sp>
      <p:sp>
        <p:nvSpPr>
          <p:cNvPr id="28" name="TextBox 27"/>
          <p:cNvSpPr txBox="1"/>
          <p:nvPr/>
        </p:nvSpPr>
        <p:spPr>
          <a:xfrm>
            <a:off x="1188720" y="1615373"/>
            <a:ext cx="6881199" cy="408445"/>
          </a:xfrm>
          <a:prstGeom prst="rect">
            <a:avLst/>
          </a:prstGeom>
          <a:noFill/>
        </p:spPr>
        <p:txBody>
          <a:bodyPr wrap="square" rtlCol="0">
            <a:spAutoFit/>
          </a:bodyPr>
          <a:lstStyle/>
          <a:p>
            <a:pPr algn="ctr">
              <a:lnSpc>
                <a:spcPts val="2550"/>
              </a:lnSpc>
            </a:pPr>
            <a:r>
              <a:rPr lang="en-IN" sz="2000" b="1" dirty="0">
                <a:solidFill>
                  <a:srgbClr val="A53010"/>
                </a:solidFill>
                <a:latin typeface="Times New Roman" panose="02020603050405020304" pitchFamily="18" charset="0"/>
                <a:cs typeface="Times New Roman" panose="02020603050405020304" pitchFamily="18" charset="0"/>
              </a:rPr>
              <a:t>Department of Computer Science and Engineering </a:t>
            </a:r>
            <a:endParaRPr lang="en-IN" sz="2000" dirty="0">
              <a:solidFill>
                <a:srgbClr val="A53010"/>
              </a:solidFill>
              <a:latin typeface="Bitter"/>
              <a:ea typeface="Bitter"/>
              <a:cs typeface="Times New Roman" panose="02020603050405020304" pitchFamily="18" charset="0"/>
            </a:endParaRPr>
          </a:p>
        </p:txBody>
      </p:sp>
      <p:sp>
        <p:nvSpPr>
          <p:cNvPr id="29" name="TextBox 28"/>
          <p:cNvSpPr txBox="1"/>
          <p:nvPr/>
        </p:nvSpPr>
        <p:spPr>
          <a:xfrm>
            <a:off x="4572000" y="4326890"/>
            <a:ext cx="4446164" cy="1738938"/>
          </a:xfrm>
          <a:prstGeom prst="rect">
            <a:avLst/>
          </a:prstGeom>
          <a:noFill/>
        </p:spPr>
        <p:txBody>
          <a:bodyPr wrap="square" rtlCol="0">
            <a:spAutoFit/>
          </a:bodyPr>
          <a:lstStyle/>
          <a:p>
            <a:pPr algn="ctr"/>
            <a:r>
              <a:rPr lang="en-IN" sz="1600" b="1" dirty="0">
                <a:solidFill>
                  <a:srgbClr val="0070C0"/>
                </a:solidFill>
                <a:latin typeface="Times New Roman" panose="02020603050405020304" pitchFamily="18" charset="0"/>
                <a:cs typeface="Times New Roman" panose="02020603050405020304" pitchFamily="18" charset="0"/>
              </a:rPr>
              <a:t>Presented By</a:t>
            </a:r>
          </a:p>
          <a:p>
            <a:pPr algn="ctr"/>
            <a:r>
              <a:rPr lang="en-IN" sz="1600" b="1" dirty="0">
                <a:solidFill>
                  <a:srgbClr val="0070C0"/>
                </a:solidFill>
                <a:latin typeface="Times New Roman" panose="02020603050405020304" pitchFamily="18" charset="0"/>
                <a:cs typeface="Times New Roman" panose="02020603050405020304" pitchFamily="18" charset="0"/>
              </a:rPr>
              <a:t>Batch : CS22A11</a:t>
            </a:r>
          </a:p>
          <a:p>
            <a:pPr algn="ctr"/>
            <a:r>
              <a:rPr lang="en-IN" sz="1600" b="1" dirty="0">
                <a:latin typeface="Times New Roman" panose="02020603050405020304" pitchFamily="18" charset="0"/>
                <a:cs typeface="Times New Roman" panose="02020603050405020304" pitchFamily="18" charset="0"/>
              </a:rPr>
              <a:t>	C SAILAJA 		22G01A0539</a:t>
            </a:r>
          </a:p>
          <a:p>
            <a:pPr algn="ctr"/>
            <a:r>
              <a:rPr lang="en-IN" sz="1600" b="1" dirty="0">
                <a:latin typeface="Times New Roman" panose="02020603050405020304" pitchFamily="18" charset="0"/>
                <a:cs typeface="Times New Roman" panose="02020603050405020304" pitchFamily="18" charset="0"/>
              </a:rPr>
              <a:t>	A RAJESH		22G01A0510</a:t>
            </a:r>
          </a:p>
          <a:p>
            <a:pPr algn="ctr"/>
            <a:r>
              <a:rPr lang="en-IN" sz="1600" b="1" dirty="0">
                <a:latin typeface="Times New Roman" panose="02020603050405020304" pitchFamily="18" charset="0"/>
                <a:cs typeface="Times New Roman" panose="02020603050405020304" pitchFamily="18" charset="0"/>
              </a:rPr>
              <a:t>	C RAMA CHARAN	22G01A0537</a:t>
            </a:r>
          </a:p>
          <a:p>
            <a:pPr algn="ctr"/>
            <a:r>
              <a:rPr lang="en-IN" sz="1600" b="1" dirty="0">
                <a:latin typeface="Times New Roman" panose="02020603050405020304" pitchFamily="18" charset="0"/>
                <a:cs typeface="Times New Roman" panose="02020603050405020304" pitchFamily="18" charset="0"/>
              </a:rPr>
              <a:t>	K LINGAMAIAH    22G01A0570</a:t>
            </a:r>
          </a:p>
          <a:p>
            <a:pPr algn="ctr"/>
            <a:endParaRPr lang="en-IN" sz="1100" b="1" dirty="0">
              <a:solidFill>
                <a:srgbClr val="A53010"/>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54440A96-2332-BEDF-3103-6C76070E1945}"/>
              </a:ext>
            </a:extLst>
          </p:cNvPr>
          <p:cNvPicPr>
            <a:picLocks noChangeAspect="1"/>
          </p:cNvPicPr>
          <p:nvPr/>
        </p:nvPicPr>
        <p:blipFill>
          <a:blip r:embed="rId3"/>
          <a:stretch>
            <a:fillRect/>
          </a:stretch>
        </p:blipFill>
        <p:spPr>
          <a:xfrm>
            <a:off x="283029" y="210940"/>
            <a:ext cx="8610600" cy="1460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0752" y="219456"/>
            <a:ext cx="1597152" cy="964451"/>
          </a:xfrm>
        </p:spPr>
        <p:txBody>
          <a:bodyPr>
            <a:normAutofit fontScale="90000"/>
          </a:bodyPr>
          <a:lstStyle/>
          <a:p>
            <a:r>
              <a:rPr lang="en-US" sz="3200" b="1" dirty="0">
                <a:solidFill>
                  <a:srgbClr val="002060"/>
                </a:solidFill>
                <a:latin typeface="Times New Roman" panose="02020603050405020304" pitchFamily="18" charset="0"/>
                <a:cs typeface="Times New Roman" panose="02020603050405020304" pitchFamily="18" charset="0"/>
              </a:rPr>
              <a:t>                             </a:t>
            </a:r>
            <a:r>
              <a:rPr sz="3200" b="1" dirty="0">
                <a:solidFill>
                  <a:srgbClr val="002060"/>
                </a:solidFill>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636016" y="1377696"/>
            <a:ext cx="7786624" cy="3913632"/>
          </a:xfrm>
        </p:spPr>
        <p:txBody>
          <a:bodyPr>
            <a:normAutofit/>
          </a:bodyPr>
          <a:lstStyle/>
          <a:p>
            <a:pPr marL="0" indent="0" algn="just" defTabSz="919480">
              <a:lnSpc>
                <a:spcPct val="150000"/>
              </a:lnSpc>
              <a:buNone/>
            </a:pPr>
            <a:endParaRPr lang="en-US" sz="2300" dirty="0">
              <a:solidFill>
                <a:schemeClr val="tx1"/>
              </a:solidFill>
              <a:latin typeface="Times New Roman" panose="02020603050405020304" pitchFamily="18" charset="0"/>
              <a:cs typeface="Times New Roman" panose="02020603050405020304" pitchFamily="18" charset="0"/>
            </a:endParaRPr>
          </a:p>
          <a:p>
            <a:pPr marL="0" indent="0" algn="just" defTabSz="919480">
              <a:lnSpc>
                <a:spcPct val="150000"/>
              </a:lnSpc>
              <a:buNone/>
            </a:pPr>
            <a:endParaRPr lang="en-US" sz="2300" dirty="0">
              <a:solidFill>
                <a:schemeClr val="tx1"/>
              </a:solidFill>
              <a:latin typeface="Times New Roman" panose="02020603050405020304" pitchFamily="18" charset="0"/>
              <a:cs typeface="Times New Roman" panose="02020603050405020304" pitchFamily="18" charset="0"/>
            </a:endParaRPr>
          </a:p>
          <a:p>
            <a:pPr marL="0" indent="0" algn="just" defTabSz="919480">
              <a:lnSpc>
                <a:spcPct val="150000"/>
              </a:lnSpc>
              <a:buNone/>
            </a:pPr>
            <a:endParaRPr lang="en-US" sz="2300" dirty="0">
              <a:solidFill>
                <a:schemeClr val="tx1"/>
              </a:solidFill>
              <a:latin typeface="Times New Roman" panose="02020603050405020304" pitchFamily="18" charset="0"/>
              <a:cs typeface="Times New Roman" panose="02020603050405020304" pitchFamily="18" charset="0"/>
            </a:endParaRPr>
          </a:p>
          <a:p>
            <a:pPr marL="0" indent="0" algn="just" defTabSz="919480">
              <a:lnSpc>
                <a:spcPct val="150000"/>
              </a:lnSpc>
              <a:buNone/>
            </a:pPr>
            <a:endParaRPr sz="1900"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636016" y="1679877"/>
            <a:ext cx="7786624" cy="2031325"/>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The rapid growth of digital wallets and online payment systems has increased the number of financial transactions over the internet. However, these systems are vulnerable to fraudulent activities such as unauthorized transactions. The proposed Real-Time Fraud Detection System analyzes transaction behavior using factors like transaction amount, frequency, velocity, and daily limits. Based on the risk level, suspicious transactions are blocked while genuine transactions are processed safely, improving security and user trust.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8505" y="247650"/>
            <a:ext cx="7406640" cy="838200"/>
          </a:xfrm>
        </p:spPr>
        <p:txBody>
          <a:bodyPr>
            <a:normAutofit fontScale="90000"/>
          </a:bodyPr>
          <a:lstStyle/>
          <a:p>
            <a:r>
              <a:rPr lang="en-US" sz="3200" b="1" dirty="0">
                <a:solidFill>
                  <a:srgbClr val="002060"/>
                </a:solidFill>
                <a:latin typeface="Times New Roman" panose="02020603050405020304" pitchFamily="18" charset="0"/>
                <a:cs typeface="Times New Roman" panose="02020603050405020304" pitchFamily="18" charset="0"/>
              </a:rPr>
              <a:t>                        </a:t>
            </a:r>
            <a:br>
              <a:rPr lang="en-US" sz="3200" b="1" dirty="0">
                <a:solidFill>
                  <a:srgbClr val="002060"/>
                </a:solidFill>
                <a:latin typeface="Times New Roman" panose="02020603050405020304" pitchFamily="18" charset="0"/>
                <a:cs typeface="Times New Roman" panose="02020603050405020304" pitchFamily="18" charset="0"/>
              </a:rPr>
            </a:br>
            <a:br>
              <a:rPr lang="en-US" sz="3200" b="1" dirty="0">
                <a:solidFill>
                  <a:srgbClr val="002060"/>
                </a:solidFill>
                <a:latin typeface="Times New Roman" panose="02020603050405020304" pitchFamily="18" charset="0"/>
                <a:cs typeface="Times New Roman" panose="02020603050405020304" pitchFamily="18" charset="0"/>
              </a:rPr>
            </a:br>
            <a:r>
              <a:rPr lang="en-US" sz="3200" b="1" dirty="0">
                <a:solidFill>
                  <a:srgbClr val="002060"/>
                </a:solidFill>
                <a:latin typeface="Times New Roman" panose="02020603050405020304" pitchFamily="18" charset="0"/>
                <a:cs typeface="Times New Roman" panose="02020603050405020304" pitchFamily="18" charset="0"/>
              </a:rPr>
              <a:t>				 </a:t>
            </a:r>
            <a:r>
              <a:rPr sz="3200" b="1" dirty="0">
                <a:solidFill>
                  <a:srgbClr val="002060"/>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647701" y="1548384"/>
            <a:ext cx="7848600" cy="5064172"/>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Digital payment systems and online financial platforms are widely used for everyday transactions.</a:t>
            </a:r>
          </a:p>
          <a:p>
            <a:pPr algn="just"/>
            <a:r>
              <a:rPr lang="en-US" sz="1800" dirty="0">
                <a:solidFill>
                  <a:schemeClr val="tx1"/>
                </a:solidFill>
                <a:latin typeface="Times New Roman" panose="02020603050405020304" pitchFamily="18" charset="0"/>
                <a:cs typeface="Times New Roman" panose="02020603050405020304" pitchFamily="18" charset="0"/>
              </a:rPr>
              <a:t>However, the increasing number of transactions also increases the risk of </a:t>
            </a:r>
            <a:r>
              <a:rPr lang="en-US" sz="1800" b="1" dirty="0">
                <a:solidFill>
                  <a:schemeClr val="tx1"/>
                </a:solidFill>
                <a:latin typeface="Times New Roman" panose="02020603050405020304" pitchFamily="18" charset="0"/>
                <a:cs typeface="Times New Roman" panose="02020603050405020304" pitchFamily="18" charset="0"/>
              </a:rPr>
              <a:t>fraudulent activities and financial cybercrime</a:t>
            </a:r>
            <a:r>
              <a:rPr lang="en-US" sz="1800" dirty="0">
                <a:solidFill>
                  <a:schemeClr val="tx1"/>
                </a:solidFill>
                <a:latin typeface="Times New Roman" panose="02020603050405020304" pitchFamily="18" charset="0"/>
                <a:cs typeface="Times New Roman" panose="02020603050405020304" pitchFamily="18" charset="0"/>
              </a:rPr>
              <a:t>.</a:t>
            </a:r>
          </a:p>
          <a:p>
            <a:pPr algn="just"/>
            <a:r>
              <a:rPr lang="en-US" sz="1800" dirty="0">
                <a:solidFill>
                  <a:schemeClr val="tx1"/>
                </a:solidFill>
                <a:latin typeface="Times New Roman" panose="02020603050405020304" pitchFamily="18" charset="0"/>
                <a:cs typeface="Times New Roman" panose="02020603050405020304" pitchFamily="18" charset="0"/>
              </a:rPr>
              <a:t>Traditional fraud detection systems rely on static rules and manual verification, which are often slow and inefficient.</a:t>
            </a:r>
          </a:p>
          <a:p>
            <a:pPr algn="just"/>
            <a:r>
              <a:rPr lang="en-US" sz="1800" dirty="0">
                <a:solidFill>
                  <a:schemeClr val="tx1"/>
                </a:solidFill>
                <a:latin typeface="Times New Roman" panose="02020603050405020304" pitchFamily="18" charset="0"/>
                <a:cs typeface="Times New Roman" panose="02020603050405020304" pitchFamily="18" charset="0"/>
              </a:rPr>
              <a:t>A </a:t>
            </a:r>
            <a:r>
              <a:rPr lang="en-US" sz="1800" b="1" dirty="0">
                <a:solidFill>
                  <a:schemeClr val="tx1"/>
                </a:solidFill>
                <a:latin typeface="Times New Roman" panose="02020603050405020304" pitchFamily="18" charset="0"/>
                <a:cs typeface="Times New Roman" panose="02020603050405020304" pitchFamily="18" charset="0"/>
              </a:rPr>
              <a:t>real-time fraud detection system</a:t>
            </a:r>
            <a:r>
              <a:rPr lang="en-US" sz="1800" dirty="0">
                <a:solidFill>
                  <a:schemeClr val="tx1"/>
                </a:solidFill>
                <a:latin typeface="Times New Roman" panose="02020603050405020304" pitchFamily="18" charset="0"/>
                <a:cs typeface="Times New Roman" panose="02020603050405020304" pitchFamily="18" charset="0"/>
              </a:rPr>
              <a:t> can analyze transaction patterns instantly and detect suspicious behavior before financial loss occurs.</a:t>
            </a:r>
          </a:p>
          <a:p>
            <a:pPr algn="just"/>
            <a:r>
              <a:rPr lang="en-US" sz="1800" dirty="0">
                <a:solidFill>
                  <a:schemeClr val="tx1"/>
                </a:solidFill>
                <a:latin typeface="Times New Roman" panose="02020603050405020304" pitchFamily="18" charset="0"/>
                <a:cs typeface="Times New Roman" panose="02020603050405020304" pitchFamily="18" charset="0"/>
              </a:rPr>
              <a:t>This approach improves </a:t>
            </a:r>
            <a:r>
              <a:rPr lang="en-US" sz="1800" b="1" dirty="0">
                <a:solidFill>
                  <a:schemeClr val="tx1"/>
                </a:solidFill>
                <a:latin typeface="Times New Roman" panose="02020603050405020304" pitchFamily="18" charset="0"/>
                <a:cs typeface="Times New Roman" panose="02020603050405020304" pitchFamily="18" charset="0"/>
              </a:rPr>
              <a:t>security, transparency, and reliability</a:t>
            </a:r>
            <a:r>
              <a:rPr lang="en-US" sz="1800" dirty="0">
                <a:solidFill>
                  <a:schemeClr val="tx1"/>
                </a:solidFill>
                <a:latin typeface="Times New Roman" panose="02020603050405020304" pitchFamily="18" charset="0"/>
                <a:cs typeface="Times New Roman" panose="02020603050405020304" pitchFamily="18" charset="0"/>
              </a:rPr>
              <a:t> in digital financial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73350" y="609600"/>
            <a:ext cx="4133850" cy="622300"/>
          </a:xfrm>
        </p:spPr>
        <p:txBody>
          <a:bodyPr>
            <a:normAutofit fontScale="90000"/>
          </a:bodyPr>
          <a:lstStyle/>
          <a:p>
            <a:r>
              <a:rPr lang="en-US" b="1" dirty="0">
                <a:solidFill>
                  <a:srgbClr val="002060"/>
                </a:solidFill>
                <a:latin typeface="Times New Roman" panose="02020603050405020304" pitchFamily="18" charset="0"/>
                <a:cs typeface="Times New Roman" panose="02020603050405020304" pitchFamily="18" charset="0"/>
              </a:rPr>
              <a:t>Literature Survey</a:t>
            </a:r>
          </a:p>
        </p:txBody>
      </p:sp>
      <p:sp>
        <p:nvSpPr>
          <p:cNvPr id="3" name="Content Placeholder 2"/>
          <p:cNvSpPr>
            <a:spLocks noGrp="1"/>
          </p:cNvSpPr>
          <p:nvPr>
            <p:ph idx="1"/>
          </p:nvPr>
        </p:nvSpPr>
        <p:spPr>
          <a:xfrm>
            <a:off x="857251" y="1574800"/>
            <a:ext cx="7404653" cy="4521200"/>
          </a:xfrm>
        </p:spPr>
        <p:txBody>
          <a:bodyPr>
            <a:normAutofit/>
          </a:bodyPr>
          <a:lstStyle/>
          <a:p>
            <a:pPr marL="34290" indent="0" algn="just">
              <a:buNone/>
            </a:pPr>
            <a:endParaRPr lang="en-US" sz="1800" b="1" dirty="0">
              <a:solidFill>
                <a:schemeClr val="tx1"/>
              </a:solidFill>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Implementing a Java Microservice for Credit Fraud Detection Using Machine Learning (2024) </a:t>
            </a: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Credit Card Fraud Detection Using Machine Learning Techniques</a:t>
            </a: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Real-Time Fraud Detection in Financial Systems (E-Commerce &amp; Banking Studies)</a:t>
            </a: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Machine Learning-Based Fraud Detection with Data Preprocessing Techniques </a:t>
            </a:r>
          </a:p>
          <a:p>
            <a:pPr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Microservice-Based Financial Fraud Detection Systems </a:t>
            </a:r>
          </a:p>
          <a:p>
            <a:pPr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428310"/>
            <a:ext cx="7406640" cy="891776"/>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                      </a:t>
            </a:r>
            <a:r>
              <a:rPr sz="3200" b="1" dirty="0">
                <a:solidFill>
                  <a:srgbClr val="002060"/>
                </a:solidFill>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633279" y="1320086"/>
            <a:ext cx="8070212" cy="5109604"/>
          </a:xfrm>
        </p:spPr>
        <p:txBody>
          <a:bodyPr>
            <a:normAutofit/>
          </a:bodyPr>
          <a:lstStyle/>
          <a:p>
            <a:pPr marL="0" indent="0">
              <a:lnSpc>
                <a:spcPct val="150000"/>
              </a:lnSpc>
              <a:buNone/>
            </a:pPr>
            <a:r>
              <a:rPr lang="en-US" sz="1800" dirty="0">
                <a:solidFill>
                  <a:schemeClr val="tx1"/>
                </a:solidFill>
                <a:latin typeface="Times New Roman" panose="02020603050405020304" pitchFamily="18" charset="0"/>
                <a:cs typeface="Times New Roman" panose="02020603050405020304" pitchFamily="18" charset="0"/>
              </a:rPr>
              <a:t>The main objectives of the proposed system are:</a:t>
            </a:r>
          </a:p>
          <a:p>
            <a:pPr marL="285750" indent="-285750">
              <a:lnSpc>
                <a:spcPct val="150000"/>
              </a:lnSpc>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To develop a secure and user-friendly digital wallet system </a:t>
            </a:r>
          </a:p>
          <a:p>
            <a:pPr marL="285750" indent="-285750">
              <a:lnSpc>
                <a:spcPct val="150000"/>
              </a:lnSpc>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To monitor financial transactions in real time </a:t>
            </a:r>
          </a:p>
          <a:p>
            <a:pPr marL="285750" indent="-285750">
              <a:lnSpc>
                <a:spcPct val="150000"/>
              </a:lnSpc>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To detect fraudulent activities based on transaction behavior </a:t>
            </a:r>
          </a:p>
          <a:p>
            <a:pPr marL="285750" indent="-285750">
              <a:lnSpc>
                <a:spcPct val="150000"/>
              </a:lnSpc>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To reduce financial losses caused by unauthorized transactions </a:t>
            </a:r>
          </a:p>
          <a:p>
            <a:pPr marL="285750" indent="-285750">
              <a:lnSpc>
                <a:spcPct val="150000"/>
              </a:lnSpc>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To automate fraud detection without manual intervention </a:t>
            </a:r>
          </a:p>
          <a:p>
            <a:pPr marL="285750" indent="-285750">
              <a:lnSpc>
                <a:spcPct val="150000"/>
              </a:lnSpc>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To improve transaction security and reliability </a:t>
            </a:r>
          </a:p>
          <a:p>
            <a:pPr marL="285750" indent="-285750">
              <a:lnSpc>
                <a:spcPct val="150000"/>
              </a:lnSpc>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 To analyze transaction patterns such as amount, frequency, and velocity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2400" y="802641"/>
            <a:ext cx="6593838" cy="759460"/>
          </a:xfrm>
        </p:spPr>
        <p:txBody>
          <a:bodyPr>
            <a:normAutofit fontScale="90000"/>
          </a:bodyPr>
          <a:lstStyle/>
          <a:p>
            <a:r>
              <a:rPr lang="en-US" sz="3200" b="1" dirty="0">
                <a:solidFill>
                  <a:srgbClr val="002060"/>
                </a:solidFill>
                <a:latin typeface="Times New Roman" panose="02020603050405020304" pitchFamily="18" charset="0"/>
                <a:cs typeface="Times New Roman" panose="02020603050405020304" pitchFamily="18" charset="0"/>
              </a:rPr>
              <a:t>               </a:t>
            </a:r>
            <a:r>
              <a:rPr sz="3200" b="1" dirty="0">
                <a:solidFill>
                  <a:srgbClr val="002060"/>
                </a:solidFill>
                <a:latin typeface="Times New Roman" panose="02020603050405020304" pitchFamily="18" charset="0"/>
                <a:cs typeface="Times New Roman" panose="02020603050405020304" pitchFamily="18" charset="0"/>
              </a:rPr>
              <a:t>Problem Statement</a:t>
            </a:r>
            <a:br>
              <a:rPr lang="en-US" sz="3200" b="1" dirty="0">
                <a:solidFill>
                  <a:srgbClr val="002060"/>
                </a:solidFill>
                <a:latin typeface="Times New Roman" panose="02020603050405020304" pitchFamily="18" charset="0"/>
                <a:cs typeface="Times New Roman" panose="02020603050405020304" pitchFamily="18" charset="0"/>
              </a:rPr>
            </a:br>
            <a:endParaRPr sz="3200" b="1"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2060113"/>
            <a:ext cx="7302500" cy="3337387"/>
          </a:xfrm>
        </p:spPr>
        <p:txBody>
          <a:bodyPr>
            <a:normAutofit/>
          </a:bodyPr>
          <a:lstStyle/>
          <a:p>
            <a:pPr marL="34290" indent="0" algn="just">
              <a:buNone/>
            </a:pPr>
            <a:r>
              <a:rPr lang="en-US" sz="1800" dirty="0">
                <a:solidFill>
                  <a:schemeClr val="tx1"/>
                </a:solidFill>
                <a:latin typeface="Times New Roman" panose="02020603050405020304" pitchFamily="18" charset="0"/>
                <a:cs typeface="Times New Roman" panose="02020603050405020304" pitchFamily="18" charset="0"/>
              </a:rPr>
              <a:t>Digital payment systems handle a large number of transactions everyday. Traditional systems mainly focus on completing transactions quickly but often fail to detect suspicious activities. Fraud can occur through high-value transactions, repeated transfers, or unusual payment patterns. Manual verification is slow and usually identifies fraud only after financial loss has occurred. Therefore, a real-time fraud detection system is needed to quickly analyze transactions and prevent suspicious activities.</a:t>
            </a:r>
            <a:endParaRPr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457200"/>
            <a:ext cx="7406640" cy="1356360"/>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                     </a:t>
            </a:r>
            <a:r>
              <a:rPr sz="3200" b="1" dirty="0">
                <a:solidFill>
                  <a:srgbClr val="002060"/>
                </a:solidFill>
                <a:latin typeface="Times New Roman" panose="02020603050405020304" pitchFamily="18" charset="0"/>
                <a:cs typeface="Times New Roman" panose="02020603050405020304" pitchFamily="18" charset="0"/>
              </a:rPr>
              <a:t>Existing System</a:t>
            </a:r>
          </a:p>
        </p:txBody>
      </p:sp>
      <p:sp>
        <p:nvSpPr>
          <p:cNvPr id="3" name="Content Placeholder 2"/>
          <p:cNvSpPr>
            <a:spLocks noGrp="1"/>
          </p:cNvSpPr>
          <p:nvPr>
            <p:ph idx="1"/>
          </p:nvPr>
        </p:nvSpPr>
        <p:spPr>
          <a:xfrm>
            <a:off x="609600" y="1813560"/>
            <a:ext cx="7950200" cy="4752340"/>
          </a:xfrm>
        </p:spPr>
        <p:txBody>
          <a:bodyPr>
            <a:noAutofit/>
          </a:bodyPr>
          <a:lstStyle/>
          <a:p>
            <a:pPr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In current digital payment systems and online financial platforms, transactions are primarily processed with a focus on speed and convenience rather than security.</a:t>
            </a:r>
          </a:p>
          <a:p>
            <a:pPr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Most existing systems use basic rule-based fraud detection mechanisms, such as predefined limits or simple conditions (e.g., transaction amount exceeding a threshold). These systems are often static and do not adapt to changing fraud patterns.</a:t>
            </a:r>
          </a:p>
          <a:p>
            <a:pPr algn="just">
              <a:lnSpc>
                <a:spcPct val="150000"/>
              </a:lnSpc>
            </a:pPr>
            <a:r>
              <a:rPr lang="en-US" sz="1800" dirty="0">
                <a:solidFill>
                  <a:schemeClr val="tx1"/>
                </a:solidFill>
                <a:latin typeface="Times New Roman" panose="02020603050405020304" pitchFamily="18" charset="0"/>
                <a:cs typeface="Times New Roman" panose="02020603050405020304" pitchFamily="18" charset="0"/>
              </a:rPr>
              <a:t>In many cases, fraud detection is performed after the transaction is completed, through manual review or delayed analysis. This reactive approach results in fraud being detected only after financial loss has already occurred. Additionally, many systems do not analyze user behavior patterns such as transaction frequency, velocity, or spending habits in real time.</a:t>
            </a:r>
            <a:endParaRPr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                         </a:t>
            </a:r>
            <a:r>
              <a:rPr sz="3200" b="1" dirty="0">
                <a:solidFill>
                  <a:srgbClr val="002060"/>
                </a:solidFill>
                <a:latin typeface="Times New Roman" panose="02020603050405020304" pitchFamily="18" charset="0"/>
                <a:cs typeface="Times New Roman" panose="02020603050405020304" pitchFamily="18" charset="0"/>
              </a:rPr>
              <a:t>Drawbacks</a:t>
            </a:r>
          </a:p>
        </p:txBody>
      </p:sp>
      <p:sp>
        <p:nvSpPr>
          <p:cNvPr id="3" name="Content Placeholder 2"/>
          <p:cNvSpPr>
            <a:spLocks noGrp="1"/>
          </p:cNvSpPr>
          <p:nvPr>
            <p:ph idx="1"/>
          </p:nvPr>
        </p:nvSpPr>
        <p:spPr>
          <a:xfrm>
            <a:off x="495301" y="1581470"/>
            <a:ext cx="8153399" cy="4802397"/>
          </a:xfrm>
        </p:spPr>
        <p:txBody>
          <a:bodyPr>
            <a:normAutofit/>
          </a:bodyPr>
          <a:lstStyle/>
          <a:p>
            <a:pPr marL="34290" indent="0" algn="just">
              <a:lnSpc>
                <a:spcPct val="150000"/>
              </a:lnSpc>
              <a:buNone/>
            </a:pPr>
            <a:endParaRPr lang="en-US" sz="1800" dirty="0">
              <a:solidFill>
                <a:schemeClr val="tx1"/>
              </a:solidFill>
              <a:latin typeface="Times New Roman" panose="02020603050405020304" pitchFamily="18" charset="0"/>
              <a:cs typeface="Times New Roman" panose="02020603050405020304" pitchFamily="18" charset="0"/>
            </a:endParaRPr>
          </a:p>
          <a:p>
            <a:pPr marL="34290" indent="0" algn="just">
              <a:lnSpc>
                <a:spcPct val="150000"/>
              </a:lnSpc>
              <a:buNone/>
            </a:pPr>
            <a:endParaRPr sz="1900"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857250" y="1997839"/>
            <a:ext cx="5505450" cy="3139321"/>
          </a:xfrm>
          <a:prstGeom prst="rect">
            <a:avLst/>
          </a:prstGeom>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No real-time fraud detection mechanism</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Static rules cannot adapt to new fraud techniques</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dependency on manual verification</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Unable to analyze transaction velocity effectively</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High chances of false alerts and missed fraud cases</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Increased financial risk due to delayed detection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526" y="355596"/>
            <a:ext cx="7406640" cy="1356360"/>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                     </a:t>
            </a:r>
            <a:r>
              <a:rPr sz="3200" b="1" dirty="0">
                <a:solidFill>
                  <a:srgbClr val="002060"/>
                </a:solidFill>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a:xfrm>
            <a:off x="529309" y="1295573"/>
            <a:ext cx="8081291" cy="5130627"/>
          </a:xfrm>
        </p:spPr>
        <p:txBody>
          <a:bodyPr>
            <a:normAutofit/>
          </a:bodyPr>
          <a:lstStyle/>
          <a:p>
            <a:pPr marL="34290" indent="0" algn="just">
              <a:lnSpc>
                <a:spcPct val="150000"/>
              </a:lnSpc>
              <a:buNone/>
            </a:pPr>
            <a:endParaRPr lang="en-US" sz="1800" dirty="0">
              <a:solidFill>
                <a:schemeClr val="tx1"/>
              </a:solidFill>
              <a:latin typeface="Times New Roman" panose="02020603050405020304" pitchFamily="18" charset="0"/>
              <a:cs typeface="Times New Roman" panose="02020603050405020304" pitchFamily="18" charset="0"/>
            </a:endParaRPr>
          </a:p>
          <a:p>
            <a:pPr marL="34290" indent="0" algn="just">
              <a:lnSpc>
                <a:spcPct val="150000"/>
              </a:lnSpc>
              <a:buNone/>
            </a:pPr>
            <a:r>
              <a:rPr lang="en-US" sz="1800" dirty="0">
                <a:solidFill>
                  <a:schemeClr val="tx1"/>
                </a:solidFill>
                <a:latin typeface="Times New Roman" panose="02020603050405020304" pitchFamily="18" charset="0"/>
                <a:cs typeface="Times New Roman" panose="02020603050405020304" pitchFamily="18" charset="0"/>
              </a:rPr>
              <a:t>The proposed system is a Real-Time Fraud Detection System for Online Financial Transactions, designed as a dynamic web-based application using Java based web technologies including JSP, Servlets, and MySQL for developing a complete transaction processing and fraud detection system. The system integrates digital wallet functionality with an intelligent fraud detection engine to provide a secure and efficient financial transaction platform.</a:t>
            </a:r>
          </a:p>
          <a:p>
            <a:pPr algn="just">
              <a:lnSpc>
                <a:spcPct val="150000"/>
              </a:lnSpc>
              <a:buFont typeface="Wingdings" panose="05000000000000000000" pitchFamily="2" charset="2"/>
              <a:buChar char="q"/>
            </a:pPr>
            <a:endParaRPr lang="en-US" sz="1900" dirty="0">
              <a:solidFill>
                <a:schemeClr val="tx1"/>
              </a:solidFill>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q"/>
            </a:pPr>
            <a:endParaRPr lang="en-US" sz="2100" dirty="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a:p>
            <a:pPr algn="just">
              <a:lnSpc>
                <a:spcPct val="150000"/>
              </a:lnSpc>
            </a:pPr>
            <a:endParaRPr lang="en-US" dirty="0">
              <a:solidFill>
                <a:schemeClr val="tx1"/>
              </a:solidFill>
              <a:latin typeface="Arial" panose="020B0604020202020204" pitchFamily="34" charset="0"/>
              <a:cs typeface="Arial" panose="020B0604020202020204" pitchFamily="34" charset="0"/>
            </a:endParaRPr>
          </a:p>
          <a:p>
            <a:pPr algn="just">
              <a:lnSpc>
                <a:spcPct val="150000"/>
              </a:lnSpc>
            </a:pPr>
            <a:endParaRPr dirty="0">
              <a:solidFill>
                <a:schemeClr val="tx1"/>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8300" y="462453"/>
            <a:ext cx="6452870" cy="1074247"/>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                </a:t>
            </a:r>
            <a:r>
              <a:rPr sz="3200" b="1" dirty="0">
                <a:solidFill>
                  <a:srgbClr val="002060"/>
                </a:solidFill>
                <a:latin typeface="Times New Roman" panose="02020603050405020304" pitchFamily="18" charset="0"/>
                <a:cs typeface="Times New Roman" panose="02020603050405020304" pitchFamily="18" charset="0"/>
              </a:rPr>
              <a:t>Architecture</a:t>
            </a:r>
          </a:p>
        </p:txBody>
      </p:sp>
      <p:sp>
        <p:nvSpPr>
          <p:cNvPr id="3" name="Content Placeholder 2"/>
          <p:cNvSpPr>
            <a:spLocks noGrp="1"/>
          </p:cNvSpPr>
          <p:nvPr>
            <p:ph idx="1"/>
          </p:nvPr>
        </p:nvSpPr>
        <p:spPr>
          <a:xfrm>
            <a:off x="694944" y="1755648"/>
            <a:ext cx="7668768" cy="4864608"/>
          </a:xfrm>
        </p:spPr>
        <p:txBody>
          <a:bodyPr>
            <a:normAutofit/>
          </a:bodyPr>
          <a:lstStyle/>
          <a:p>
            <a:pPr marL="34290" indent="0">
              <a:buNone/>
            </a:pPr>
            <a:r>
              <a:rPr lang="en-US" sz="1800" dirty="0">
                <a:solidFill>
                  <a:schemeClr val="tx1"/>
                </a:solidFill>
                <a:latin typeface="Times New Roman" panose="02020603050405020304" pitchFamily="18" charset="0"/>
                <a:cs typeface="Times New Roman" panose="02020603050405020304" pitchFamily="18" charset="0"/>
              </a:rPr>
              <a:t>The architecture of the system consists of the following components:</a:t>
            </a:r>
          </a:p>
          <a:p>
            <a:pPr marL="34290" indent="0">
              <a:buNone/>
            </a:pP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User Interface - </a:t>
            </a:r>
            <a:r>
              <a:rPr lang="en-US" sz="1800" dirty="0">
                <a:solidFill>
                  <a:schemeClr val="tx1"/>
                </a:solidFill>
                <a:latin typeface="Times New Roman" panose="02020603050405020304" pitchFamily="18" charset="0"/>
                <a:cs typeface="Times New Roman" panose="02020603050405020304" pitchFamily="18" charset="0"/>
              </a:rPr>
              <a:t>Allows users to register, login, and perform wallet transactions.</a:t>
            </a:r>
          </a:p>
          <a:p>
            <a:pPr algn="just"/>
            <a:r>
              <a:rPr lang="en-US" sz="1800" b="1" dirty="0">
                <a:solidFill>
                  <a:schemeClr val="tx1"/>
                </a:solidFill>
                <a:latin typeface="Times New Roman" panose="02020603050405020304" pitchFamily="18" charset="0"/>
                <a:cs typeface="Times New Roman" panose="02020603050405020304" pitchFamily="18" charset="0"/>
              </a:rPr>
              <a:t>Transaction Processing Module - </a:t>
            </a:r>
            <a:r>
              <a:rPr lang="en-US" sz="1800" dirty="0">
                <a:solidFill>
                  <a:schemeClr val="tx1"/>
                </a:solidFill>
                <a:latin typeface="Times New Roman" panose="02020603050405020304" pitchFamily="18" charset="0"/>
                <a:cs typeface="Times New Roman" panose="02020603050405020304" pitchFamily="18" charset="0"/>
              </a:rPr>
              <a:t>Handles money transfers and validates transaction details.</a:t>
            </a:r>
          </a:p>
          <a:p>
            <a:pPr algn="just"/>
            <a:r>
              <a:rPr lang="en-US" sz="1800" b="1" dirty="0">
                <a:solidFill>
                  <a:schemeClr val="tx1"/>
                </a:solidFill>
                <a:latin typeface="Times New Roman" panose="02020603050405020304" pitchFamily="18" charset="0"/>
                <a:cs typeface="Times New Roman" panose="02020603050405020304" pitchFamily="18" charset="0"/>
              </a:rPr>
              <a:t>Fraud Detection Engine</a:t>
            </a:r>
            <a:r>
              <a:rPr lang="en-US" sz="1800" dirty="0">
                <a:solidFill>
                  <a:schemeClr val="tx1"/>
                </a:solidFill>
                <a:latin typeface="Times New Roman" panose="02020603050405020304" pitchFamily="18" charset="0"/>
                <a:cs typeface="Times New Roman" panose="02020603050405020304" pitchFamily="18" charset="0"/>
              </a:rPr>
              <a:t>  - Analyzes transaction behavior and calculates risk scores.</a:t>
            </a:r>
          </a:p>
          <a:p>
            <a:pPr algn="just"/>
            <a:r>
              <a:rPr lang="en-US" sz="1800" b="1" dirty="0">
                <a:solidFill>
                  <a:schemeClr val="tx1"/>
                </a:solidFill>
                <a:latin typeface="Times New Roman" panose="02020603050405020304" pitchFamily="18" charset="0"/>
                <a:cs typeface="Times New Roman" panose="02020603050405020304" pitchFamily="18" charset="0"/>
              </a:rPr>
              <a:t>Decision System</a:t>
            </a:r>
            <a:r>
              <a:rPr lang="en-US" sz="1800" dirty="0">
                <a:solidFill>
                  <a:schemeClr val="tx1"/>
                </a:solidFill>
                <a:latin typeface="Times New Roman" panose="02020603050405020304" pitchFamily="18" charset="0"/>
                <a:cs typeface="Times New Roman" panose="02020603050405020304" pitchFamily="18" charset="0"/>
              </a:rPr>
              <a:t> - Classifies transactions as safe or suspicious.</a:t>
            </a:r>
          </a:p>
          <a:p>
            <a:pPr algn="just"/>
            <a:r>
              <a:rPr lang="en-US" sz="1800" b="1" dirty="0">
                <a:solidFill>
                  <a:schemeClr val="tx1"/>
                </a:solidFill>
                <a:latin typeface="Times New Roman" panose="02020603050405020304" pitchFamily="18" charset="0"/>
                <a:cs typeface="Times New Roman" panose="02020603050405020304" pitchFamily="18" charset="0"/>
              </a:rPr>
              <a:t>Database System - </a:t>
            </a:r>
            <a:r>
              <a:rPr lang="en-US" sz="1800" dirty="0">
                <a:solidFill>
                  <a:schemeClr val="tx1"/>
                </a:solidFill>
                <a:latin typeface="Times New Roman" panose="02020603050405020304" pitchFamily="18" charset="0"/>
                <a:cs typeface="Times New Roman" panose="02020603050405020304" pitchFamily="18" charset="0"/>
              </a:rPr>
              <a:t>Stores user information and transaction history.</a:t>
            </a:r>
          </a:p>
        </p:txBody>
      </p:sp>
      <p:sp>
        <p:nvSpPr>
          <p:cNvPr id="4" name="AutoShape 2" descr="Real-Time Fraud Detection Using Complex Event Processing"/>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0" y="609600"/>
            <a:ext cx="7311390" cy="546100"/>
          </a:xfrm>
        </p:spPr>
        <p:txBody>
          <a:bodyPr>
            <a:normAutofit/>
          </a:bodyPr>
          <a:lstStyle/>
          <a:p>
            <a:r>
              <a:rPr lang="en-US" sz="3200" b="1" dirty="0">
                <a:solidFill>
                  <a:schemeClr val="accent4">
                    <a:lumMod val="50000"/>
                  </a:schemeClr>
                </a:solidFill>
                <a:latin typeface="Times New Roman" panose="02020603050405020304" pitchFamily="18" charset="0"/>
                <a:cs typeface="Times New Roman" panose="02020603050405020304" pitchFamily="18" charset="0"/>
              </a:rPr>
              <a:t>Architecture Flow &amp; Diagram</a:t>
            </a:r>
          </a:p>
        </p:txBody>
      </p:sp>
      <p:sp>
        <p:nvSpPr>
          <p:cNvPr id="3" name="Content Placeholder 2"/>
          <p:cNvSpPr>
            <a:spLocks noGrp="1"/>
          </p:cNvSpPr>
          <p:nvPr>
            <p:ph idx="1"/>
          </p:nvPr>
        </p:nvSpPr>
        <p:spPr>
          <a:xfrm>
            <a:off x="635001" y="1625600"/>
            <a:ext cx="2832100" cy="4699000"/>
          </a:xfrm>
        </p:spPr>
        <p:txBody>
          <a:bodyPr>
            <a:noAutofit/>
          </a:bodyPr>
          <a:lstStyle/>
          <a:p>
            <a:pPr marL="34290" indent="0">
              <a:buNone/>
            </a:pPr>
            <a:r>
              <a:rPr lang="en-US" sz="1800" dirty="0">
                <a:solidFill>
                  <a:schemeClr val="tx1"/>
                </a:solidFill>
                <a:latin typeface="Times New Roman" panose="02020603050405020304" pitchFamily="18" charset="0"/>
                <a:cs typeface="Times New Roman" panose="02020603050405020304" pitchFamily="18" charset="0"/>
              </a:rPr>
              <a:t>User Transaction Request</a:t>
            </a: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                    ↓  </a:t>
            </a: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Transaction Validation</a:t>
            </a: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                    ↓</a:t>
            </a: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Real-Time Risk Calculation</a:t>
            </a: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                    ↓</a:t>
            </a: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Fraud Detection Decision</a:t>
            </a: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                    ↓</a:t>
            </a: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Allow / Flag / Block Transaction</a:t>
            </a: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                    ↓</a:t>
            </a: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Transaction History Storage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8390" y="1463675"/>
            <a:ext cx="5316220" cy="47180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13100" y="609600"/>
            <a:ext cx="2247900" cy="812800"/>
          </a:xfrm>
        </p:spPr>
        <p:txBody>
          <a:bodyPr>
            <a:normAutofit fontScale="90000"/>
          </a:bodyPr>
          <a:lstStyle/>
          <a:p>
            <a:pPr marL="0" indent="0">
              <a:lnSpc>
                <a:spcPct val="150000"/>
              </a:lnSpc>
            </a:pPr>
            <a:r>
              <a:rPr lang="en-IN" b="1" dirty="0">
                <a:solidFill>
                  <a:srgbClr val="002060"/>
                </a:solidFill>
                <a:latin typeface="Times New Roman" panose="02020603050405020304" pitchFamily="18" charset="0"/>
                <a:cs typeface="Times New Roman" panose="02020603050405020304" pitchFamily="18" charset="0"/>
              </a:rPr>
              <a:t>Modules</a:t>
            </a:r>
          </a:p>
        </p:txBody>
      </p:sp>
      <p:sp>
        <p:nvSpPr>
          <p:cNvPr id="3" name="Content Placeholder 2"/>
          <p:cNvSpPr>
            <a:spLocks noGrp="1"/>
          </p:cNvSpPr>
          <p:nvPr>
            <p:ph idx="4294967295"/>
          </p:nvPr>
        </p:nvSpPr>
        <p:spPr>
          <a:xfrm>
            <a:off x="317500" y="1574800"/>
            <a:ext cx="7670800" cy="4838700"/>
          </a:xfrm>
        </p:spPr>
        <p:txBody>
          <a:bodyPr>
            <a:noAutofit/>
          </a:bodyPr>
          <a:lstStyle/>
          <a:p>
            <a:pPr marL="0" indent="0" algn="just">
              <a:lnSpc>
                <a:spcPct val="150000"/>
              </a:lnSpc>
              <a:buNone/>
            </a:pPr>
            <a:r>
              <a:rPr lang="en-IN" dirty="0">
                <a:solidFill>
                  <a:schemeClr val="tx1"/>
                </a:solidFill>
                <a:latin typeface="Times New Roman" panose="02020603050405020304" pitchFamily="18" charset="0"/>
                <a:cs typeface="Times New Roman" panose="02020603050405020304" pitchFamily="18" charset="0"/>
              </a:rPr>
              <a:t>                                         </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5" name="Rectangle 4"/>
          <p:cNvSpPr/>
          <p:nvPr/>
        </p:nvSpPr>
        <p:spPr>
          <a:xfrm>
            <a:off x="495300" y="1866900"/>
            <a:ext cx="8153400" cy="3693319"/>
          </a:xfrm>
          <a:prstGeom prst="rect">
            <a:avLst/>
          </a:prstGeom>
        </p:spPr>
        <p:txBody>
          <a:bodyPr wrap="square">
            <a:spAutoFit/>
          </a:bodyPr>
          <a:lstStyle/>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User Registration and Authentication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Allows users to create an account and login securely using their credentials.</a:t>
            </a:r>
          </a:p>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 Wallet Management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Manages wallet balance, allows users to add money, and displays available funds.</a:t>
            </a:r>
          </a:p>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Transaction Processing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Handles money transfers between users after verifying receiver details and balance.</a:t>
            </a:r>
          </a:p>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Real-Time Fraud Detection and Risk Analysis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Analyzes transactions and assigns a risk score to detect and block suspicious activities.</a:t>
            </a:r>
          </a:p>
          <a:p>
            <a:pPr marL="342900" indent="-342900">
              <a:buFont typeface="+mj-lt"/>
              <a:buAutoNum type="arabicPeriod"/>
            </a:pPr>
            <a:r>
              <a:rPr lang="en-US" b="1" dirty="0">
                <a:latin typeface="Times New Roman" panose="02020603050405020304" pitchFamily="18" charset="0"/>
                <a:cs typeface="Times New Roman" panose="02020603050405020304" pitchFamily="18" charset="0"/>
              </a:rPr>
              <a:t>Transaction History and Monitoring Module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Stores and displays all transaction records for monitoring and security purposes.</a:t>
            </a:r>
          </a:p>
          <a:p>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5000" y="609600"/>
            <a:ext cx="2933700" cy="647700"/>
          </a:xfrm>
        </p:spPr>
        <p:txBody>
          <a:bodyPr>
            <a:normAutofit/>
          </a:bodyPr>
          <a:lstStyle/>
          <a:p>
            <a:r>
              <a:rPr lang="en-US" sz="3200" b="1" dirty="0">
                <a:solidFill>
                  <a:schemeClr val="accent4">
                    <a:lumMod val="50000"/>
                  </a:schemeClr>
                </a:solidFill>
                <a:latin typeface="Times New Roman" panose="02020603050405020304" pitchFamily="18" charset="0"/>
                <a:cs typeface="Times New Roman" panose="02020603050405020304" pitchFamily="18" charset="0"/>
              </a:rPr>
              <a:t>UML Diagrams</a:t>
            </a:r>
          </a:p>
        </p:txBody>
      </p:sp>
      <p:sp>
        <p:nvSpPr>
          <p:cNvPr id="4" name="Rectangle 3"/>
          <p:cNvSpPr/>
          <p:nvPr/>
        </p:nvSpPr>
        <p:spPr>
          <a:xfrm>
            <a:off x="819150" y="1563470"/>
            <a:ext cx="7823200"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Use Case Diagram </a:t>
            </a:r>
            <a:r>
              <a:rPr lang="en-US" dirty="0">
                <a:latin typeface="Times New Roman" panose="02020603050405020304" pitchFamily="18" charset="0"/>
                <a:cs typeface="Times New Roman" panose="02020603050405020304" pitchFamily="18" charset="0"/>
              </a:rPr>
              <a:t>– Shows interaction between users and system functions.</a:t>
            </a:r>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392555" y="2263002"/>
            <a:ext cx="6358890" cy="28702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01700" y="743635"/>
            <a:ext cx="7950200"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Class Diagram </a:t>
            </a:r>
            <a:r>
              <a:rPr lang="en-US" dirty="0">
                <a:latin typeface="Times New Roman" panose="02020603050405020304" pitchFamily="18" charset="0"/>
                <a:cs typeface="Times New Roman" panose="02020603050405020304" pitchFamily="18" charset="0"/>
              </a:rPr>
              <a:t>– Shows system classes and relationships.</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441575" y="1625600"/>
            <a:ext cx="4591050" cy="46482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939800" y="688202"/>
            <a:ext cx="7708900"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Sequence Diagram </a:t>
            </a:r>
            <a:r>
              <a:rPr lang="en-US" dirty="0">
                <a:latin typeface="Times New Roman" panose="02020603050405020304" pitchFamily="18" charset="0"/>
                <a:cs typeface="Times New Roman" panose="02020603050405020304" pitchFamily="18" charset="0"/>
              </a:rPr>
              <a:t>– Shows communication between system components.</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241742" y="1203643"/>
            <a:ext cx="6279515" cy="5238115"/>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06500" y="565835"/>
            <a:ext cx="7658100"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Activity Diagram </a:t>
            </a:r>
            <a:r>
              <a:rPr lang="en-US" dirty="0">
                <a:latin typeface="Times New Roman" panose="02020603050405020304" pitchFamily="18" charset="0"/>
                <a:cs typeface="Times New Roman" panose="02020603050405020304" pitchFamily="18" charset="0"/>
              </a:rPr>
              <a:t>– Shows workflow of transaction processing</a:t>
            </a: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146300" y="1066800"/>
            <a:ext cx="4821237" cy="54864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7600" y="377952"/>
            <a:ext cx="4254500" cy="463296"/>
          </a:xfrm>
        </p:spPr>
        <p:txBody>
          <a:bodyPr>
            <a:normAutofit fontScale="90000"/>
          </a:bodyPr>
          <a:lstStyle/>
          <a:p>
            <a:r>
              <a:rPr lang="en-US" sz="3200" b="1" dirty="0">
                <a:solidFill>
                  <a:schemeClr val="accent4">
                    <a:lumMod val="50000"/>
                  </a:schemeClr>
                </a:solidFill>
                <a:latin typeface="Times New Roman" panose="02020603050405020304" pitchFamily="18" charset="0"/>
                <a:cs typeface="Times New Roman" panose="02020603050405020304" pitchFamily="18" charset="0"/>
              </a:rPr>
              <a:t>Results (Output Screens)</a:t>
            </a:r>
          </a:p>
        </p:txBody>
      </p:sp>
      <p:pic>
        <p:nvPicPr>
          <p:cNvPr id="9" name="Picture 8">
            <a:extLst>
              <a:ext uri="{FF2B5EF4-FFF2-40B4-BE49-F238E27FC236}">
                <a16:creationId xmlns:a16="http://schemas.microsoft.com/office/drawing/2014/main" id="{92E36F69-52DB-F17A-2511-B5D5DD9FE8C5}"/>
              </a:ext>
            </a:extLst>
          </p:cNvPr>
          <p:cNvPicPr>
            <a:picLocks noChangeAspect="1"/>
          </p:cNvPicPr>
          <p:nvPr/>
        </p:nvPicPr>
        <p:blipFill>
          <a:blip r:embed="rId2"/>
          <a:stretch>
            <a:fillRect/>
          </a:stretch>
        </p:blipFill>
        <p:spPr>
          <a:xfrm>
            <a:off x="158750" y="1080512"/>
            <a:ext cx="8712200" cy="4218445"/>
          </a:xfrm>
          <a:prstGeom prst="rect">
            <a:avLst/>
          </a:prstGeom>
        </p:spPr>
      </p:pic>
      <p:sp>
        <p:nvSpPr>
          <p:cNvPr id="10" name="TextBox 9">
            <a:extLst>
              <a:ext uri="{FF2B5EF4-FFF2-40B4-BE49-F238E27FC236}">
                <a16:creationId xmlns:a16="http://schemas.microsoft.com/office/drawing/2014/main" id="{D66F3D9B-0B71-5F7B-373A-3055BBD6052B}"/>
              </a:ext>
            </a:extLst>
          </p:cNvPr>
          <p:cNvSpPr txBox="1"/>
          <p:nvPr/>
        </p:nvSpPr>
        <p:spPr>
          <a:xfrm>
            <a:off x="3860800" y="6019800"/>
            <a:ext cx="184731" cy="369332"/>
          </a:xfrm>
          <a:prstGeom prst="rect">
            <a:avLst/>
          </a:prstGeom>
          <a:noFill/>
        </p:spPr>
        <p:txBody>
          <a:bodyPr wrap="none" rtlCol="0">
            <a:spAutoFit/>
          </a:bodyPr>
          <a:lstStyle/>
          <a:p>
            <a:endParaRPr lang="en-IN" dirty="0"/>
          </a:p>
        </p:txBody>
      </p:sp>
      <p:sp>
        <p:nvSpPr>
          <p:cNvPr id="11" name="TextBox 10">
            <a:extLst>
              <a:ext uri="{FF2B5EF4-FFF2-40B4-BE49-F238E27FC236}">
                <a16:creationId xmlns:a16="http://schemas.microsoft.com/office/drawing/2014/main" id="{6CF94360-AB84-A8EB-0A00-27647B008DAC}"/>
              </a:ext>
            </a:extLst>
          </p:cNvPr>
          <p:cNvSpPr txBox="1"/>
          <p:nvPr/>
        </p:nvSpPr>
        <p:spPr>
          <a:xfrm>
            <a:off x="2971801" y="5538222"/>
            <a:ext cx="510540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Screen 1: Registration Page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343945-859F-A252-CECA-4B64D054BB8D}"/>
              </a:ext>
            </a:extLst>
          </p:cNvPr>
          <p:cNvPicPr>
            <a:picLocks noChangeAspect="1"/>
          </p:cNvPicPr>
          <p:nvPr/>
        </p:nvPicPr>
        <p:blipFill>
          <a:blip r:embed="rId2"/>
          <a:stretch>
            <a:fillRect/>
          </a:stretch>
        </p:blipFill>
        <p:spPr>
          <a:xfrm>
            <a:off x="241300" y="816665"/>
            <a:ext cx="8636000" cy="4486006"/>
          </a:xfrm>
          <a:prstGeom prst="rect">
            <a:avLst/>
          </a:prstGeom>
        </p:spPr>
      </p:pic>
      <p:sp>
        <p:nvSpPr>
          <p:cNvPr id="7" name="TextBox 6">
            <a:extLst>
              <a:ext uri="{FF2B5EF4-FFF2-40B4-BE49-F238E27FC236}">
                <a16:creationId xmlns:a16="http://schemas.microsoft.com/office/drawing/2014/main" id="{9EFB971A-8D4F-52E1-6F6E-6D071FCBD941}"/>
              </a:ext>
            </a:extLst>
          </p:cNvPr>
          <p:cNvSpPr txBox="1"/>
          <p:nvPr/>
        </p:nvSpPr>
        <p:spPr>
          <a:xfrm>
            <a:off x="2984500" y="5485368"/>
            <a:ext cx="443230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Screen 2 Login Page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1F83D77-2599-ADFE-DB56-9B24D5A326DC}"/>
              </a:ext>
            </a:extLst>
          </p:cNvPr>
          <p:cNvPicPr>
            <a:picLocks noChangeAspect="1"/>
          </p:cNvPicPr>
          <p:nvPr/>
        </p:nvPicPr>
        <p:blipFill>
          <a:blip r:embed="rId2"/>
          <a:stretch>
            <a:fillRect/>
          </a:stretch>
        </p:blipFill>
        <p:spPr>
          <a:xfrm>
            <a:off x="482600" y="1322491"/>
            <a:ext cx="8128000" cy="4187618"/>
          </a:xfrm>
          <a:prstGeom prst="rect">
            <a:avLst/>
          </a:prstGeom>
        </p:spPr>
      </p:pic>
      <p:sp>
        <p:nvSpPr>
          <p:cNvPr id="4" name="TextBox 3">
            <a:extLst>
              <a:ext uri="{FF2B5EF4-FFF2-40B4-BE49-F238E27FC236}">
                <a16:creationId xmlns:a16="http://schemas.microsoft.com/office/drawing/2014/main" id="{4885CD62-5030-E10F-D63F-2A27E64D2909}"/>
              </a:ext>
            </a:extLst>
          </p:cNvPr>
          <p:cNvSpPr txBox="1"/>
          <p:nvPr/>
        </p:nvSpPr>
        <p:spPr>
          <a:xfrm>
            <a:off x="3517900" y="5689600"/>
            <a:ext cx="382270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Screen 3 Home page</a:t>
            </a:r>
          </a:p>
        </p:txBody>
      </p:sp>
    </p:spTree>
    <p:extLst>
      <p:ext uri="{BB962C8B-B14F-4D97-AF65-F5344CB8AC3E}">
        <p14:creationId xmlns:p14="http://schemas.microsoft.com/office/powerpoint/2010/main" val="6808443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F58128-6383-1C5B-2F05-B6A7577CD71A}"/>
              </a:ext>
            </a:extLst>
          </p:cNvPr>
          <p:cNvPicPr>
            <a:picLocks noChangeAspect="1"/>
          </p:cNvPicPr>
          <p:nvPr/>
        </p:nvPicPr>
        <p:blipFill>
          <a:blip r:embed="rId2"/>
          <a:stretch>
            <a:fillRect/>
          </a:stretch>
        </p:blipFill>
        <p:spPr>
          <a:xfrm>
            <a:off x="381000" y="677729"/>
            <a:ext cx="8661400" cy="4308742"/>
          </a:xfrm>
          <a:prstGeom prst="rect">
            <a:avLst/>
          </a:prstGeom>
        </p:spPr>
      </p:pic>
      <p:sp>
        <p:nvSpPr>
          <p:cNvPr id="4" name="TextBox 3">
            <a:extLst>
              <a:ext uri="{FF2B5EF4-FFF2-40B4-BE49-F238E27FC236}">
                <a16:creationId xmlns:a16="http://schemas.microsoft.com/office/drawing/2014/main" id="{425C5CFD-0953-B6F0-616D-7F94495EDBF7}"/>
              </a:ext>
            </a:extLst>
          </p:cNvPr>
          <p:cNvSpPr txBox="1"/>
          <p:nvPr/>
        </p:nvSpPr>
        <p:spPr>
          <a:xfrm>
            <a:off x="3327400" y="5136634"/>
            <a:ext cx="3836759"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Screen 4 Sending Money </a:t>
            </a:r>
          </a:p>
          <a:p>
            <a:r>
              <a:rPr lang="en-IN" b="1"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05431D58-3B70-31B5-2F78-E80B5BCDB313}"/>
              </a:ext>
            </a:extLst>
          </p:cNvPr>
          <p:cNvSpPr txBox="1"/>
          <p:nvPr/>
        </p:nvSpPr>
        <p:spPr>
          <a:xfrm>
            <a:off x="584200" y="5459799"/>
            <a:ext cx="845820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Allows users location to enter receiver details and transfer money from their wallet</a:t>
            </a:r>
            <a:r>
              <a:rPr lang="en-US" dirty="0"/>
              <a:t>.</a:t>
            </a:r>
            <a:endParaRPr lang="en-IN" dirty="0"/>
          </a:p>
        </p:txBody>
      </p:sp>
    </p:spTree>
    <p:extLst>
      <p:ext uri="{BB962C8B-B14F-4D97-AF65-F5344CB8AC3E}">
        <p14:creationId xmlns:p14="http://schemas.microsoft.com/office/powerpoint/2010/main" val="699812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C646C0E-A07A-8435-EA16-74FB50835333}"/>
              </a:ext>
            </a:extLst>
          </p:cNvPr>
          <p:cNvPicPr>
            <a:picLocks noChangeAspect="1"/>
          </p:cNvPicPr>
          <p:nvPr/>
        </p:nvPicPr>
        <p:blipFill>
          <a:blip r:embed="rId2"/>
          <a:stretch>
            <a:fillRect/>
          </a:stretch>
        </p:blipFill>
        <p:spPr>
          <a:xfrm>
            <a:off x="279400" y="1182144"/>
            <a:ext cx="8597900" cy="4239711"/>
          </a:xfrm>
          <a:prstGeom prst="rect">
            <a:avLst/>
          </a:prstGeom>
        </p:spPr>
      </p:pic>
      <p:sp>
        <p:nvSpPr>
          <p:cNvPr id="6" name="TextBox 5">
            <a:extLst>
              <a:ext uri="{FF2B5EF4-FFF2-40B4-BE49-F238E27FC236}">
                <a16:creationId xmlns:a16="http://schemas.microsoft.com/office/drawing/2014/main" id="{5F4D95BD-34C2-B81B-A677-68320085B0C0}"/>
              </a:ext>
            </a:extLst>
          </p:cNvPr>
          <p:cNvSpPr txBox="1"/>
          <p:nvPr/>
        </p:nvSpPr>
        <p:spPr>
          <a:xfrm>
            <a:off x="3289300" y="5688556"/>
            <a:ext cx="329949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Screen 4 Sending Money</a:t>
            </a:r>
          </a:p>
        </p:txBody>
      </p:sp>
    </p:spTree>
    <p:extLst>
      <p:ext uri="{BB962C8B-B14F-4D97-AF65-F5344CB8AC3E}">
        <p14:creationId xmlns:p14="http://schemas.microsoft.com/office/powerpoint/2010/main" val="17106621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8DAFCE-9A6A-3F47-AAA8-4E107D953522}"/>
              </a:ext>
            </a:extLst>
          </p:cNvPr>
          <p:cNvPicPr>
            <a:picLocks noChangeAspect="1"/>
          </p:cNvPicPr>
          <p:nvPr/>
        </p:nvPicPr>
        <p:blipFill>
          <a:blip r:embed="rId2"/>
          <a:stretch>
            <a:fillRect/>
          </a:stretch>
        </p:blipFill>
        <p:spPr>
          <a:xfrm>
            <a:off x="234950" y="1032632"/>
            <a:ext cx="8674100" cy="4208535"/>
          </a:xfrm>
          <a:prstGeom prst="rect">
            <a:avLst/>
          </a:prstGeom>
        </p:spPr>
      </p:pic>
      <p:sp>
        <p:nvSpPr>
          <p:cNvPr id="4" name="TextBox 3">
            <a:extLst>
              <a:ext uri="{FF2B5EF4-FFF2-40B4-BE49-F238E27FC236}">
                <a16:creationId xmlns:a16="http://schemas.microsoft.com/office/drawing/2014/main" id="{7282EA1B-54C9-FB42-5308-FD3C148FC065}"/>
              </a:ext>
            </a:extLst>
          </p:cNvPr>
          <p:cNvSpPr txBox="1"/>
          <p:nvPr/>
        </p:nvSpPr>
        <p:spPr>
          <a:xfrm>
            <a:off x="3213100" y="5448300"/>
            <a:ext cx="4634733"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Screen 5: Payment Confirmation</a:t>
            </a:r>
          </a:p>
        </p:txBody>
      </p:sp>
    </p:spTree>
    <p:extLst>
      <p:ext uri="{BB962C8B-B14F-4D97-AF65-F5344CB8AC3E}">
        <p14:creationId xmlns:p14="http://schemas.microsoft.com/office/powerpoint/2010/main" val="1390308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5A75D6-5F39-20B8-B44B-444ED356B28C}"/>
              </a:ext>
            </a:extLst>
          </p:cNvPr>
          <p:cNvPicPr>
            <a:picLocks noChangeAspect="1"/>
          </p:cNvPicPr>
          <p:nvPr/>
        </p:nvPicPr>
        <p:blipFill>
          <a:blip r:embed="rId2"/>
          <a:stretch>
            <a:fillRect/>
          </a:stretch>
        </p:blipFill>
        <p:spPr>
          <a:xfrm>
            <a:off x="215900" y="1365995"/>
            <a:ext cx="8699500" cy="4126009"/>
          </a:xfrm>
          <a:prstGeom prst="rect">
            <a:avLst/>
          </a:prstGeom>
        </p:spPr>
      </p:pic>
      <p:sp>
        <p:nvSpPr>
          <p:cNvPr id="6" name="TextBox 5">
            <a:extLst>
              <a:ext uri="{FF2B5EF4-FFF2-40B4-BE49-F238E27FC236}">
                <a16:creationId xmlns:a16="http://schemas.microsoft.com/office/drawing/2014/main" id="{0E1C67C3-B73C-0726-49F4-47678222F777}"/>
              </a:ext>
            </a:extLst>
          </p:cNvPr>
          <p:cNvSpPr txBox="1"/>
          <p:nvPr/>
        </p:nvSpPr>
        <p:spPr>
          <a:xfrm>
            <a:off x="3096275" y="5492004"/>
            <a:ext cx="3127972" cy="369332"/>
          </a:xfrm>
          <a:prstGeom prst="rect">
            <a:avLst/>
          </a:prstGeom>
          <a:noFill/>
        </p:spPr>
        <p:txBody>
          <a:bodyPr wrap="none" rtlCol="0">
            <a:spAutoFit/>
          </a:bodyPr>
          <a:lstStyle/>
          <a:p>
            <a:r>
              <a:rPr lang="en-IN" b="1" dirty="0">
                <a:latin typeface="Times New Roman" panose="02020603050405020304" pitchFamily="18" charset="0"/>
                <a:cs typeface="Times New Roman" panose="02020603050405020304" pitchFamily="18" charset="0"/>
              </a:rPr>
              <a:t>Screen 6: Transaction History</a:t>
            </a:r>
          </a:p>
        </p:txBody>
      </p:sp>
    </p:spTree>
    <p:extLst>
      <p:ext uri="{BB962C8B-B14F-4D97-AF65-F5344CB8AC3E}">
        <p14:creationId xmlns:p14="http://schemas.microsoft.com/office/powerpoint/2010/main" val="1466804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0075D25-EF40-3C0D-F7DE-C6E98E1108AA}"/>
              </a:ext>
            </a:extLst>
          </p:cNvPr>
          <p:cNvPicPr>
            <a:picLocks noChangeAspect="1"/>
          </p:cNvPicPr>
          <p:nvPr/>
        </p:nvPicPr>
        <p:blipFill>
          <a:blip r:embed="rId2"/>
          <a:stretch>
            <a:fillRect/>
          </a:stretch>
        </p:blipFill>
        <p:spPr>
          <a:xfrm>
            <a:off x="330200" y="891273"/>
            <a:ext cx="8483600" cy="4645927"/>
          </a:xfrm>
          <a:prstGeom prst="rect">
            <a:avLst/>
          </a:prstGeom>
        </p:spPr>
      </p:pic>
      <p:sp>
        <p:nvSpPr>
          <p:cNvPr id="7" name="TextBox 6">
            <a:extLst>
              <a:ext uri="{FF2B5EF4-FFF2-40B4-BE49-F238E27FC236}">
                <a16:creationId xmlns:a16="http://schemas.microsoft.com/office/drawing/2014/main" id="{878967E1-E1CF-D9F6-2712-47854BA3EEE1}"/>
              </a:ext>
            </a:extLst>
          </p:cNvPr>
          <p:cNvSpPr txBox="1"/>
          <p:nvPr/>
        </p:nvSpPr>
        <p:spPr>
          <a:xfrm>
            <a:off x="3225800" y="5597395"/>
            <a:ext cx="378460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Screen 7: Money Wallet </a:t>
            </a:r>
          </a:p>
        </p:txBody>
      </p:sp>
    </p:spTree>
    <p:extLst>
      <p:ext uri="{BB962C8B-B14F-4D97-AF65-F5344CB8AC3E}">
        <p14:creationId xmlns:p14="http://schemas.microsoft.com/office/powerpoint/2010/main" val="2883442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8342F8-D0F8-E5AA-ADA4-96EFCD3CAF48}"/>
              </a:ext>
            </a:extLst>
          </p:cNvPr>
          <p:cNvPicPr>
            <a:picLocks noChangeAspect="1"/>
          </p:cNvPicPr>
          <p:nvPr/>
        </p:nvPicPr>
        <p:blipFill>
          <a:blip r:embed="rId2"/>
          <a:stretch>
            <a:fillRect/>
          </a:stretch>
        </p:blipFill>
        <p:spPr>
          <a:xfrm>
            <a:off x="241300" y="1008306"/>
            <a:ext cx="8661400" cy="4104788"/>
          </a:xfrm>
          <a:prstGeom prst="rect">
            <a:avLst/>
          </a:prstGeom>
        </p:spPr>
      </p:pic>
      <p:sp>
        <p:nvSpPr>
          <p:cNvPr id="4" name="TextBox 3">
            <a:extLst>
              <a:ext uri="{FF2B5EF4-FFF2-40B4-BE49-F238E27FC236}">
                <a16:creationId xmlns:a16="http://schemas.microsoft.com/office/drawing/2014/main" id="{F4AD2005-03B2-FB4C-9E47-2DB45AA835D7}"/>
              </a:ext>
            </a:extLst>
          </p:cNvPr>
          <p:cNvSpPr txBox="1"/>
          <p:nvPr/>
        </p:nvSpPr>
        <p:spPr>
          <a:xfrm>
            <a:off x="3327400" y="5113094"/>
            <a:ext cx="3898900"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Screen 8: Payment Blocked</a:t>
            </a:r>
          </a:p>
        </p:txBody>
      </p:sp>
    </p:spTree>
    <p:extLst>
      <p:ext uri="{BB962C8B-B14F-4D97-AF65-F5344CB8AC3E}">
        <p14:creationId xmlns:p14="http://schemas.microsoft.com/office/powerpoint/2010/main" val="2882801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BEB4876-97DF-7662-5BDF-950922071083}"/>
              </a:ext>
            </a:extLst>
          </p:cNvPr>
          <p:cNvPicPr>
            <a:picLocks noChangeAspect="1"/>
          </p:cNvPicPr>
          <p:nvPr/>
        </p:nvPicPr>
        <p:blipFill>
          <a:blip r:embed="rId2"/>
          <a:stretch>
            <a:fillRect/>
          </a:stretch>
        </p:blipFill>
        <p:spPr>
          <a:xfrm>
            <a:off x="292100" y="963510"/>
            <a:ext cx="8559800" cy="4319690"/>
          </a:xfrm>
          <a:prstGeom prst="rect">
            <a:avLst/>
          </a:prstGeom>
        </p:spPr>
      </p:pic>
      <p:sp>
        <p:nvSpPr>
          <p:cNvPr id="4" name="TextBox 3">
            <a:extLst>
              <a:ext uri="{FF2B5EF4-FFF2-40B4-BE49-F238E27FC236}">
                <a16:creationId xmlns:a16="http://schemas.microsoft.com/office/drawing/2014/main" id="{9D07865A-3CCE-B8BE-B944-EAFF5679D6F2}"/>
              </a:ext>
            </a:extLst>
          </p:cNvPr>
          <p:cNvSpPr txBox="1"/>
          <p:nvPr/>
        </p:nvSpPr>
        <p:spPr>
          <a:xfrm>
            <a:off x="2070100" y="5753100"/>
            <a:ext cx="6712143"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Screen 9: Allows users location to enter receiver details </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80654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336550"/>
            <a:ext cx="7406640" cy="1115311"/>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                        </a:t>
            </a:r>
            <a:r>
              <a:rPr sz="3200" b="1" dirty="0">
                <a:solidFill>
                  <a:srgbClr val="002060"/>
                </a:solidFill>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626745" y="1835150"/>
            <a:ext cx="7867650" cy="365125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The project successfully developed a </a:t>
            </a:r>
            <a:r>
              <a:rPr lang="en-US" sz="1800" b="1" dirty="0">
                <a:solidFill>
                  <a:schemeClr val="tx1"/>
                </a:solidFill>
                <a:latin typeface="Times New Roman" panose="02020603050405020304" pitchFamily="18" charset="0"/>
                <a:cs typeface="Times New Roman" panose="02020603050405020304" pitchFamily="18" charset="0"/>
              </a:rPr>
              <a:t>Real-Time Fraud Detection Enabled Digital Wallet System</a:t>
            </a:r>
            <a:r>
              <a:rPr lang="en-US" sz="1800" dirty="0">
                <a:solidFill>
                  <a:schemeClr val="tx1"/>
                </a:solidFill>
                <a:latin typeface="Times New Roman" panose="02020603050405020304" pitchFamily="18" charset="0"/>
                <a:cs typeface="Times New Roman" panose="02020603050405020304" pitchFamily="18" charset="0"/>
              </a:rPr>
              <a:t>.</a:t>
            </a:r>
          </a:p>
          <a:p>
            <a:pPr algn="just"/>
            <a:r>
              <a:rPr lang="en-US" sz="1800" dirty="0">
                <a:solidFill>
                  <a:schemeClr val="tx1"/>
                </a:solidFill>
                <a:latin typeface="Times New Roman" panose="02020603050405020304" pitchFamily="18" charset="0"/>
                <a:cs typeface="Times New Roman" panose="02020603050405020304" pitchFamily="18" charset="0"/>
              </a:rPr>
              <a:t>The system monitors financial transactions and analyzes transaction behavior in real time.</a:t>
            </a:r>
          </a:p>
          <a:p>
            <a:pPr algn="just"/>
            <a:r>
              <a:rPr lang="en-US" sz="1800" dirty="0">
                <a:solidFill>
                  <a:schemeClr val="tx1"/>
                </a:solidFill>
                <a:latin typeface="Times New Roman" panose="02020603050405020304" pitchFamily="18" charset="0"/>
                <a:cs typeface="Times New Roman" panose="02020603050405020304" pitchFamily="18" charset="0"/>
              </a:rPr>
              <a:t>The risk scoring mechanism helps detect suspicious activities before financial loss occurs.</a:t>
            </a:r>
          </a:p>
          <a:p>
            <a:pPr algn="just"/>
            <a:r>
              <a:rPr lang="en-US" sz="1800" dirty="0">
                <a:solidFill>
                  <a:schemeClr val="tx1"/>
                </a:solidFill>
                <a:latin typeface="Times New Roman" panose="02020603050405020304" pitchFamily="18" charset="0"/>
                <a:cs typeface="Times New Roman" panose="02020603050405020304" pitchFamily="18" charset="0"/>
              </a:rPr>
              <a:t>By integrating automated fraud detection with secure transaction processing, the system improves financial security and user trust.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5100" y="609600"/>
            <a:ext cx="3911600" cy="952500"/>
          </a:xfrm>
        </p:spPr>
        <p:txBody>
          <a:bodyPr>
            <a:normAutofit/>
          </a:bodyPr>
          <a:lstStyle/>
          <a:p>
            <a:r>
              <a:rPr lang="en-US" sz="3200" b="1" dirty="0">
                <a:solidFill>
                  <a:schemeClr val="tx1"/>
                </a:solidFill>
                <a:latin typeface="Times New Roman" panose="02020603050405020304" pitchFamily="18" charset="0"/>
                <a:cs typeface="Times New Roman" panose="02020603050405020304" pitchFamily="18" charset="0"/>
              </a:rPr>
              <a:t>Future Enhancement</a:t>
            </a:r>
          </a:p>
        </p:txBody>
      </p:sp>
      <p:sp>
        <p:nvSpPr>
          <p:cNvPr id="3" name="Content Placeholder 2"/>
          <p:cNvSpPr>
            <a:spLocks noGrp="1"/>
          </p:cNvSpPr>
          <p:nvPr>
            <p:ph idx="1"/>
          </p:nvPr>
        </p:nvSpPr>
        <p:spPr>
          <a:xfrm>
            <a:off x="736601" y="1841500"/>
            <a:ext cx="7525304" cy="3924300"/>
          </a:xfrm>
        </p:spPr>
        <p:txBody>
          <a:bodyPr>
            <a:normAutofit fontScale="92500" lnSpcReduction="10000"/>
          </a:bodyPr>
          <a:lstStyle/>
          <a:p>
            <a:pPr marL="34290" indent="0">
              <a:buNone/>
            </a:pPr>
            <a:r>
              <a:rPr lang="en-US" sz="1800" dirty="0">
                <a:solidFill>
                  <a:schemeClr val="tx1"/>
                </a:solidFill>
                <a:latin typeface="Times New Roman" panose="02020603050405020304" pitchFamily="18" charset="0"/>
                <a:cs typeface="Times New Roman" panose="02020603050405020304" pitchFamily="18" charset="0"/>
              </a:rPr>
              <a:t>The system can be further enhanced with advanced technologies such as:</a:t>
            </a:r>
          </a:p>
          <a:p>
            <a:pPr marL="34290" indent="0">
              <a:buNone/>
            </a:pPr>
            <a:endParaRPr lang="en-US" sz="1800" dirty="0">
              <a:solidFill>
                <a:schemeClr val="tx1"/>
              </a:solidFill>
              <a:latin typeface="Times New Roman" panose="02020603050405020304" pitchFamily="18" charset="0"/>
              <a:cs typeface="Times New Roman" panose="02020603050405020304" pitchFamily="18" charset="0"/>
            </a:endParaRP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 Machine learning models for adaptive fraud detection</a:t>
            </a:r>
          </a:p>
          <a:p>
            <a:pPr marL="34290" indent="0">
              <a:buNone/>
            </a:pP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 Multi-factor authentication for high-value transactions</a:t>
            </a:r>
          </a:p>
          <a:p>
            <a:pPr marL="34290" indent="0">
              <a:buNone/>
            </a:pP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 Mobile application integration</a:t>
            </a:r>
          </a:p>
          <a:p>
            <a:pPr marL="34290" indent="0">
              <a:buNone/>
            </a:pP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 Real-time SMS or email alerts</a:t>
            </a:r>
          </a:p>
          <a:p>
            <a:pPr marL="34290" indent="0">
              <a:buNone/>
            </a:pP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 Cloud-based deployment for scalability</a:t>
            </a:r>
          </a:p>
          <a:p>
            <a:pPr marL="34290" indent="0">
              <a:buNone/>
            </a:pPr>
            <a:endParaRPr lang="en-US" sz="1800" dirty="0">
              <a:solidFill>
                <a:schemeClr val="tx1"/>
              </a:solidFill>
              <a:latin typeface="Times New Roman" panose="02020603050405020304" pitchFamily="18" charset="0"/>
              <a:cs typeface="Times New Roman" panose="02020603050405020304" pitchFamily="18" charset="0"/>
            </a:endParaRPr>
          </a:p>
          <a:p>
            <a:pPr marL="34290" indent="0">
              <a:buNone/>
            </a:pPr>
            <a:r>
              <a:rPr lang="en-US" sz="1800" dirty="0">
                <a:solidFill>
                  <a:schemeClr val="tx1"/>
                </a:solidFill>
                <a:latin typeface="Times New Roman" panose="02020603050405020304" pitchFamily="18" charset="0"/>
                <a:cs typeface="Times New Roman" panose="02020603050405020304" pitchFamily="18" charset="0"/>
              </a:rPr>
              <a:t>These improvements will make the system more secure and intelligent.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8560" y="609600"/>
            <a:ext cx="7406640" cy="965200"/>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rPr>
              <a:t>                       </a:t>
            </a:r>
            <a:r>
              <a:rPr sz="3200" b="1" dirty="0">
                <a:solidFill>
                  <a:srgbClr val="002060"/>
                </a:solidFill>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857250" y="1965960"/>
            <a:ext cx="7727950" cy="371094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A.M. Aburbeian, H.I. Ashqar, “Credit Card Fraud Detection Using Enhanced Random Forest Classifier for Imbalanced Data”.</a:t>
            </a:r>
          </a:p>
          <a:p>
            <a:pPr algn="just"/>
            <a:r>
              <a:rPr lang="en-US" sz="1800" dirty="0">
                <a:solidFill>
                  <a:schemeClr val="tx1"/>
                </a:solidFill>
                <a:latin typeface="Times New Roman" panose="02020603050405020304" pitchFamily="18" charset="0"/>
                <a:cs typeface="Times New Roman" panose="02020603050405020304" pitchFamily="18" charset="0"/>
              </a:rPr>
              <a:t>Bahnsen et al. – Cost Sensitive Decision Trees for Fraud Detection.</a:t>
            </a:r>
          </a:p>
          <a:p>
            <a:pPr algn="just"/>
            <a:r>
              <a:rPr lang="en-US" sz="1800" dirty="0">
                <a:solidFill>
                  <a:schemeClr val="tx1"/>
                </a:solidFill>
                <a:latin typeface="Times New Roman" panose="02020603050405020304" pitchFamily="18" charset="0"/>
                <a:cs typeface="Times New Roman" panose="02020603050405020304" pitchFamily="18" charset="0"/>
              </a:rPr>
              <a:t>E. Ileberi, Y. Sun, and Z. Wang, “A machine learning based credit card fraud detection using the GA algorithm for feature selection”. in Journal of Big Data 9, 25 February 2022. </a:t>
            </a:r>
          </a:p>
          <a:p>
            <a:pPr algn="just"/>
            <a:r>
              <a:rPr lang="en-US" sz="1800" dirty="0">
                <a:solidFill>
                  <a:schemeClr val="tx1"/>
                </a:solidFill>
                <a:latin typeface="Times New Roman" panose="02020603050405020304" pitchFamily="18" charset="0"/>
                <a:cs typeface="Times New Roman" panose="02020603050405020304" pitchFamily="18" charset="0"/>
              </a:rPr>
              <a:t>J. K. Afriyie et al., “A supervised machine learning algorithm for detecting and predicting fraud in credit card transactions”, in Decision Analytics Journal.</a:t>
            </a:r>
          </a:p>
          <a:p>
            <a:pPr algn="just"/>
            <a:r>
              <a:rPr lang="en-US" sz="1800" dirty="0">
                <a:solidFill>
                  <a:schemeClr val="tx1"/>
                </a:solidFill>
                <a:latin typeface="Times New Roman" panose="02020603050405020304" pitchFamily="18" charset="0"/>
                <a:cs typeface="Times New Roman" panose="02020603050405020304" pitchFamily="18" charset="0"/>
              </a:rPr>
              <a:t>A. Bansal, H. Garg, “An Efficient Techniques for Fraudulent detection in Credit Card Dataset: A Comprehensive study”, in IOP Conference Series: Materials Science and Engineering, Vol. 1116, April 2021.</a:t>
            </a:r>
          </a:p>
          <a:p>
            <a:pPr marL="34290" indent="0" algn="just">
              <a:lnSpc>
                <a:spcPct val="150000"/>
              </a:lnSpc>
              <a:buNone/>
            </a:pPr>
            <a:endParaRPr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7762" y="2788555"/>
            <a:ext cx="5043738" cy="1280890"/>
          </a:xfrm>
        </p:spPr>
        <p:txBody>
          <a:bodyPr>
            <a:normAutofit/>
          </a:bodyPr>
          <a:lstStyle/>
          <a:p>
            <a:pPr algn="ctr"/>
            <a:r>
              <a:rPr lang="en-US" sz="5400" i="1" dirty="0">
                <a:solidFill>
                  <a:schemeClr val="tx1"/>
                </a:solidFill>
                <a:latin typeface="Bernard MT Condensed" panose="02050806060905020404" pitchFamily="18" charset="0"/>
                <a:cs typeface="Times New Roman" panose="02020603050405020304" pitchFamily="18" charset="0"/>
              </a:rPr>
              <a:t>  </a:t>
            </a:r>
            <a:r>
              <a:rPr lang="en-US" sz="5400" b="1" i="1" dirty="0">
                <a:solidFill>
                  <a:schemeClr val="tx1"/>
                </a:solidFill>
                <a:latin typeface="Times New Roman" panose="02020603050405020304" pitchFamily="18" charset="0"/>
                <a:cs typeface="Times New Roman" panose="02020603050405020304" pitchFamily="18" charset="0"/>
              </a:rPr>
              <a:t>Thank you…</a:t>
            </a:r>
            <a:endParaRPr lang="en-IN" sz="54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173</TotalTime>
  <Words>1278</Words>
  <Application>Microsoft Office PowerPoint</Application>
  <PresentationFormat>On-screen Show (4:3)</PresentationFormat>
  <Paragraphs>130</Paragraphs>
  <Slides>30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Arial</vt:lpstr>
      <vt:lpstr>Bernard MT Condensed</vt:lpstr>
      <vt:lpstr>Bitter</vt:lpstr>
      <vt:lpstr>Calibri</vt:lpstr>
      <vt:lpstr>Cambria</vt:lpstr>
      <vt:lpstr>Corbel</vt:lpstr>
      <vt:lpstr>Times New Roman</vt:lpstr>
      <vt:lpstr>Wingdings</vt:lpstr>
      <vt:lpstr>Basis</vt:lpstr>
      <vt:lpstr>PowerPoint Presentation</vt:lpstr>
      <vt:lpstr>                             Abstract</vt:lpstr>
      <vt:lpstr>                               Introduction</vt:lpstr>
      <vt:lpstr>Literature Survey</vt:lpstr>
      <vt:lpstr>                      Objectives</vt:lpstr>
      <vt:lpstr>               Problem Statement </vt:lpstr>
      <vt:lpstr>                     Existing System</vt:lpstr>
      <vt:lpstr>                         Drawbacks</vt:lpstr>
      <vt:lpstr>                     Proposed System</vt:lpstr>
      <vt:lpstr>                Architecture</vt:lpstr>
      <vt:lpstr>Architecture Flow &amp; Diagram</vt:lpstr>
      <vt:lpstr>Modules</vt:lpstr>
      <vt:lpstr>UML Diagrams</vt:lpstr>
      <vt:lpstr>PowerPoint Presentation</vt:lpstr>
      <vt:lpstr>PowerPoint Presentation</vt:lpstr>
      <vt:lpstr>PowerPoint Presentation</vt:lpstr>
      <vt:lpstr>Results (Output Screens)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Conclusion</vt:lpstr>
      <vt:lpstr>Future Enhancement</vt:lpstr>
      <vt:lpstr>                       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govardhan siliveru</dc:creator>
  <dc:description>generated using python-pptx</dc:description>
  <cp:lastModifiedBy>CHINNAKAMBAIAH GARI RAMA CHARAN REDDY</cp:lastModifiedBy>
  <cp:revision>139</cp:revision>
  <dcterms:created xsi:type="dcterms:W3CDTF">2013-01-27T09:14:00Z</dcterms:created>
  <dcterms:modified xsi:type="dcterms:W3CDTF">2026-04-23T16:11:01Z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1BA2153106EC42ED88E51DD1AF9672D0_12</vt:lpwstr>
  </property>
  <property fmtid="{D5CDD505-2E9C-101B-9397-08002B2CF9AE}" pid="3" name="KSOProductBuildVer">
    <vt:lpwstr>1033-12.2.0.23196</vt:lpwstr>
  </property>
</Properties>
</file>